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70D33-F274-53F0-DC9B-526323E58A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420C9E-D94C-8B45-7FCA-81B814B6C9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77FC30-43F6-B579-5CF4-AFA5921219D6}"/>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5" name="Footer Placeholder 4">
            <a:extLst>
              <a:ext uri="{FF2B5EF4-FFF2-40B4-BE49-F238E27FC236}">
                <a16:creationId xmlns:a16="http://schemas.microsoft.com/office/drawing/2014/main" id="{1A0206A9-95AD-CBEC-5CFB-0B58B268D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3FD3B4-DF97-DD59-D961-522A2FA299EC}"/>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2446760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3BAC-45B1-5700-D9D7-9C74515836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B29B38-7968-EA90-25E1-C4FB2D135B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CD08DE-1F5B-A218-E995-04039A3773C0}"/>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5" name="Footer Placeholder 4">
            <a:extLst>
              <a:ext uri="{FF2B5EF4-FFF2-40B4-BE49-F238E27FC236}">
                <a16:creationId xmlns:a16="http://schemas.microsoft.com/office/drawing/2014/main" id="{4B176F2D-10FA-1A39-AC4C-27EC6BD50D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E207C0-E218-EA6E-96A8-29B30EA2E213}"/>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1202420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E8769-965A-667C-874A-ED5962AC27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ED247E4-3603-9C89-5BA2-27CE250D87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5566EA-0EA0-9B18-1F39-F35EBB77DCFA}"/>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5" name="Footer Placeholder 4">
            <a:extLst>
              <a:ext uri="{FF2B5EF4-FFF2-40B4-BE49-F238E27FC236}">
                <a16:creationId xmlns:a16="http://schemas.microsoft.com/office/drawing/2014/main" id="{02DAC7EC-B375-F376-842B-216B04889F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2C1637-5C15-0C2B-26C0-612892E7DF3C}"/>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1179685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4A763-4A3D-9B90-5E06-9AAA145691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9C6C64-2054-48D0-C9DD-3350E5E93F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7FEA1AD-A014-101C-1DAA-372158836C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201305-886B-7C65-B731-2071A92103AF}"/>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6" name="Footer Placeholder 5">
            <a:extLst>
              <a:ext uri="{FF2B5EF4-FFF2-40B4-BE49-F238E27FC236}">
                <a16:creationId xmlns:a16="http://schemas.microsoft.com/office/drawing/2014/main" id="{D9067EF9-E3F4-DE9F-2993-BD676745BC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35F445-F092-25C4-673C-B5E2EFA5440C}"/>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2091368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6DF1-7F62-ADD1-C490-8BC3D42C33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B55995-C5AE-4F53-0D5F-4C74556666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DD7CC2-FCF0-2B1A-CD04-AC9ACE1A9D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42ECC5A-8540-BF4A-ADE4-6E496D60CB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70E94B-5FC6-3AEE-F9FE-3E1F9036C0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07ACD3E-7419-6C67-FD21-0824224B21FA}"/>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8" name="Footer Placeholder 7">
            <a:extLst>
              <a:ext uri="{FF2B5EF4-FFF2-40B4-BE49-F238E27FC236}">
                <a16:creationId xmlns:a16="http://schemas.microsoft.com/office/drawing/2014/main" id="{71EFC2B0-789A-0537-E168-CA66CD32B7B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70DA162-B2BE-155F-D74B-50AC5313DD89}"/>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3345718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E9DFF-7EE6-6B5D-2DCF-5C84074559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F5A3B8-2DD6-27D8-E00C-5859D181F7C7}"/>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4" name="Footer Placeholder 3">
            <a:extLst>
              <a:ext uri="{FF2B5EF4-FFF2-40B4-BE49-F238E27FC236}">
                <a16:creationId xmlns:a16="http://schemas.microsoft.com/office/drawing/2014/main" id="{5797FC01-8AFD-9708-5B9C-5FCD55A51D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2F875B-29DC-B59F-754A-7C2C7E520A1B}"/>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3373696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F70311-781C-87A4-ED84-31F4912CF653}"/>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3" name="Footer Placeholder 2">
            <a:extLst>
              <a:ext uri="{FF2B5EF4-FFF2-40B4-BE49-F238E27FC236}">
                <a16:creationId xmlns:a16="http://schemas.microsoft.com/office/drawing/2014/main" id="{7494F01B-81E3-9919-4080-E3559BBC6C0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588D20-ACD5-9B87-F751-10ADD683F1CA}"/>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2121670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DADD8-7BD6-45F7-C502-964323DA12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894CF5-02AC-A5A5-4CB3-D79FA204F6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C449D4-52E3-E143-68EC-70D6949EC1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83C79E-A1A2-6716-387E-5001DBA5A0B6}"/>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6" name="Footer Placeholder 5">
            <a:extLst>
              <a:ext uri="{FF2B5EF4-FFF2-40B4-BE49-F238E27FC236}">
                <a16:creationId xmlns:a16="http://schemas.microsoft.com/office/drawing/2014/main" id="{F7188C8E-059D-2EAD-700D-3E5D28ACBD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6BB2E6-0624-1E07-D228-00BB575655A5}"/>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220438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7B411-67DB-AE7C-256D-30963E10B2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D58F9C-A038-29BB-0EC7-F1819A5D57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7BB0C92-E449-0F51-64DA-020A70D9D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F2FCEC-3643-1D33-1F3F-B89E1781EB74}"/>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6" name="Footer Placeholder 5">
            <a:extLst>
              <a:ext uri="{FF2B5EF4-FFF2-40B4-BE49-F238E27FC236}">
                <a16:creationId xmlns:a16="http://schemas.microsoft.com/office/drawing/2014/main" id="{FF67FF38-9F23-3708-39A1-1AC73A1544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A4CF26-C6FF-F27E-4699-CA9BC2154CA6}"/>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84803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F77CE-37A7-A7B3-6FDB-F0F2FBF074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CA3129-8426-9419-37A6-F4A492C0D0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801E8C-2729-D4D5-C45A-1DE48D4869AC}"/>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5" name="Footer Placeholder 4">
            <a:extLst>
              <a:ext uri="{FF2B5EF4-FFF2-40B4-BE49-F238E27FC236}">
                <a16:creationId xmlns:a16="http://schemas.microsoft.com/office/drawing/2014/main" id="{5AEB0717-517E-A81B-A1C1-87995DF2D7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F8E225-D8FF-FA29-134E-CCF9D09FF332}"/>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3558301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8CCDAE-813E-6296-CB53-81B6B5B50F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CCCA73-FF5F-868B-AAC1-19996C43F3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0FAF14-AD83-8546-95E9-06057257D9EC}"/>
              </a:ext>
            </a:extLst>
          </p:cNvPr>
          <p:cNvSpPr>
            <a:spLocks noGrp="1"/>
          </p:cNvSpPr>
          <p:nvPr>
            <p:ph type="dt" sz="half" idx="10"/>
          </p:nvPr>
        </p:nvSpPr>
        <p:spPr/>
        <p:txBody>
          <a:bodyPr/>
          <a:lstStyle/>
          <a:p>
            <a:fld id="{FA6F678D-D38D-46A4-8453-AFC3F8911016}" type="datetimeFigureOut">
              <a:rPr lang="en-IN" smtClean="0"/>
              <a:t>16-08-2025</a:t>
            </a:fld>
            <a:endParaRPr lang="en-IN"/>
          </a:p>
        </p:txBody>
      </p:sp>
      <p:sp>
        <p:nvSpPr>
          <p:cNvPr id="5" name="Footer Placeholder 4">
            <a:extLst>
              <a:ext uri="{FF2B5EF4-FFF2-40B4-BE49-F238E27FC236}">
                <a16:creationId xmlns:a16="http://schemas.microsoft.com/office/drawing/2014/main" id="{DD71F2A7-5FD1-DEB6-A376-ACE7D56AD8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B529ED-15C2-4E3A-D80B-EFA4C52E6813}"/>
              </a:ext>
            </a:extLst>
          </p:cNvPr>
          <p:cNvSpPr>
            <a:spLocks noGrp="1"/>
          </p:cNvSpPr>
          <p:nvPr>
            <p:ph type="sldNum" sz="quarter" idx="12"/>
          </p:nvPr>
        </p:nvSpPr>
        <p:spPr/>
        <p:txBody>
          <a:bodyPr/>
          <a:lstStyle/>
          <a:p>
            <a:fld id="{80CFA537-9AE8-499A-B3BF-3A0FCDD9CA7C}" type="slidenum">
              <a:rPr lang="en-IN" smtClean="0"/>
              <a:t>‹#›</a:t>
            </a:fld>
            <a:endParaRPr lang="en-IN"/>
          </a:p>
        </p:txBody>
      </p:sp>
    </p:spTree>
    <p:extLst>
      <p:ext uri="{BB962C8B-B14F-4D97-AF65-F5344CB8AC3E}">
        <p14:creationId xmlns:p14="http://schemas.microsoft.com/office/powerpoint/2010/main" val="3785828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85131F-76E2-D60D-19ED-39FE7D06F4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0A28BE-6122-7F85-0935-E13F064C73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9C52E9-AE20-01DE-AAF0-33D37FCEF9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F678D-D38D-46A4-8453-AFC3F8911016}" type="datetimeFigureOut">
              <a:rPr lang="en-IN" smtClean="0"/>
              <a:t>16-08-2025</a:t>
            </a:fld>
            <a:endParaRPr lang="en-IN"/>
          </a:p>
        </p:txBody>
      </p:sp>
      <p:sp>
        <p:nvSpPr>
          <p:cNvPr id="5" name="Footer Placeholder 4">
            <a:extLst>
              <a:ext uri="{FF2B5EF4-FFF2-40B4-BE49-F238E27FC236}">
                <a16:creationId xmlns:a16="http://schemas.microsoft.com/office/drawing/2014/main" id="{49F5814E-38EA-6468-C645-12143A0B22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EB7A58B-918E-42C3-BC11-1760F692BA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CFA537-9AE8-499A-B3BF-3A0FCDD9CA7C}" type="slidenum">
              <a:rPr lang="en-IN" smtClean="0"/>
              <a:t>‹#›</a:t>
            </a:fld>
            <a:endParaRPr lang="en-IN"/>
          </a:p>
        </p:txBody>
      </p:sp>
    </p:spTree>
    <p:extLst>
      <p:ext uri="{BB962C8B-B14F-4D97-AF65-F5344CB8AC3E}">
        <p14:creationId xmlns:p14="http://schemas.microsoft.com/office/powerpoint/2010/main" val="634226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B5DC-C5D8-05C8-C697-6E3611D370E3}"/>
              </a:ext>
            </a:extLst>
          </p:cNvPr>
          <p:cNvSpPr>
            <a:spLocks noGrp="1"/>
          </p:cNvSpPr>
          <p:nvPr>
            <p:ph type="ctrTitle"/>
          </p:nvPr>
        </p:nvSpPr>
        <p:spPr/>
        <p:txBody>
          <a:bodyPr/>
          <a:lstStyle/>
          <a:p>
            <a:r>
              <a:rPr lang="en-IN" dirty="0"/>
              <a:t>HUMAN BODY COMMUNICATION</a:t>
            </a:r>
          </a:p>
        </p:txBody>
      </p:sp>
      <p:sp>
        <p:nvSpPr>
          <p:cNvPr id="3" name="Subtitle 2">
            <a:extLst>
              <a:ext uri="{FF2B5EF4-FFF2-40B4-BE49-F238E27FC236}">
                <a16:creationId xmlns:a16="http://schemas.microsoft.com/office/drawing/2014/main" id="{4D3BD281-8768-3579-68DA-F8BB2C210DDE}"/>
              </a:ext>
            </a:extLst>
          </p:cNvPr>
          <p:cNvSpPr>
            <a:spLocks noGrp="1"/>
          </p:cNvSpPr>
          <p:nvPr>
            <p:ph type="subTitle" idx="1"/>
          </p:nvPr>
        </p:nvSpPr>
        <p:spPr/>
        <p:txBody>
          <a:bodyPr>
            <a:normAutofit lnSpcReduction="10000"/>
          </a:bodyPr>
          <a:lstStyle/>
          <a:p>
            <a:endParaRPr lang="en-IN" dirty="0"/>
          </a:p>
          <a:p>
            <a:r>
              <a:rPr lang="en-IN" dirty="0"/>
              <a:t>DATE – 20</a:t>
            </a:r>
            <a:r>
              <a:rPr lang="en-IN" baseline="30000" dirty="0"/>
              <a:t>th</a:t>
            </a:r>
            <a:r>
              <a:rPr lang="en-IN" dirty="0"/>
              <a:t> AUG, 2025</a:t>
            </a:r>
          </a:p>
          <a:p>
            <a:r>
              <a:rPr lang="en-IN" dirty="0"/>
              <a:t>SIDDHANT DEORE, IMT2023539</a:t>
            </a:r>
          </a:p>
          <a:p>
            <a:r>
              <a:rPr lang="en-IN" dirty="0"/>
              <a:t>PRATHAM SHETTY, IMT2023534</a:t>
            </a:r>
          </a:p>
        </p:txBody>
      </p:sp>
    </p:spTree>
    <p:extLst>
      <p:ext uri="{BB962C8B-B14F-4D97-AF65-F5344CB8AC3E}">
        <p14:creationId xmlns:p14="http://schemas.microsoft.com/office/powerpoint/2010/main" val="772069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5B2B9-3C3F-5662-6E59-95A7E4EA6D96}"/>
              </a:ext>
            </a:extLst>
          </p:cNvPr>
          <p:cNvSpPr>
            <a:spLocks noGrp="1"/>
          </p:cNvSpPr>
          <p:nvPr>
            <p:ph type="title"/>
          </p:nvPr>
        </p:nvSpPr>
        <p:spPr>
          <a:xfrm>
            <a:off x="838199" y="502626"/>
            <a:ext cx="10515600" cy="1326174"/>
          </a:xfrm>
        </p:spPr>
        <p:txBody>
          <a:bodyPr>
            <a:normAutofit/>
          </a:bodyPr>
          <a:lstStyle/>
          <a:p>
            <a:pPr algn="ctr"/>
            <a:r>
              <a:rPr lang="en-US" dirty="0"/>
              <a:t>Characterization and Modeling of the Capacitive HBC Channel</a:t>
            </a:r>
            <a:endParaRPr lang="en-IN" dirty="0"/>
          </a:p>
        </p:txBody>
      </p:sp>
      <p:sp>
        <p:nvSpPr>
          <p:cNvPr id="3" name="TextBox 2">
            <a:extLst>
              <a:ext uri="{FF2B5EF4-FFF2-40B4-BE49-F238E27FC236}">
                <a16:creationId xmlns:a16="http://schemas.microsoft.com/office/drawing/2014/main" id="{7E125B91-D859-FED3-B600-50C6A36B207D}"/>
              </a:ext>
            </a:extLst>
          </p:cNvPr>
          <p:cNvSpPr txBox="1"/>
          <p:nvPr/>
        </p:nvSpPr>
        <p:spPr>
          <a:xfrm>
            <a:off x="768143" y="2492778"/>
            <a:ext cx="10655710" cy="3539430"/>
          </a:xfrm>
          <a:prstGeom prst="rect">
            <a:avLst/>
          </a:prstGeom>
          <a:noFill/>
        </p:spPr>
        <p:txBody>
          <a:bodyPr wrap="square" rtlCol="0">
            <a:spAutoFit/>
          </a:bodyPr>
          <a:lstStyle/>
          <a:p>
            <a:r>
              <a:rPr lang="en-US" sz="1600" dirty="0"/>
              <a:t>Capacitive Coupling:</a:t>
            </a:r>
          </a:p>
          <a:p>
            <a:r>
              <a:rPr lang="en-US" sz="1600" dirty="0"/>
              <a:t>In capacitive coupling one of the transmitter electrodes is attached to the skin and the other is kept floating. In this way, the transmitter generates an electric potential, inducing an electric field in the body that is sensed by the receiver electrodes arranged in the same way. The floating electrodes are coupled to ground through the air, creating a return path, while the signal electrodes in contact with the skin create the forward path of the signal. The existence of an external path means that capacitive coupling is only suitable for wearable devices and is sensitive to environmental interference. </a:t>
            </a:r>
          </a:p>
          <a:p>
            <a:endParaRPr lang="en-US" sz="1600" dirty="0"/>
          </a:p>
          <a:p>
            <a:r>
              <a:rPr lang="en-US" sz="1600" dirty="0"/>
              <a:t>Galvanic Coupling:</a:t>
            </a:r>
            <a:br>
              <a:rPr lang="en-US" sz="1600" dirty="0"/>
            </a:br>
            <a:r>
              <a:rPr lang="en-US" sz="1600" dirty="0"/>
              <a:t>In the galvanic coupling technique a pair of electrodes is in contact with the skin at the transmitter (Tx) and couples the signal to the body generating a differential signal which induces galvanic currents. The signals are captured by another pair of electrodes in contact with the skin at the receiver. The absence of external ground makes this method independent of the environment and suitable for wearable and implantable devices. However, it has been shown that it only works acceptably with short distances (~15 cm) between the transmitter and the receiver and at frequencies below 1 MHz, limiting data transmission rate.</a:t>
            </a:r>
            <a:endParaRPr lang="en-IN" sz="1600" dirty="0"/>
          </a:p>
        </p:txBody>
      </p:sp>
      <p:sp>
        <p:nvSpPr>
          <p:cNvPr id="4" name="TextBox 3">
            <a:extLst>
              <a:ext uri="{FF2B5EF4-FFF2-40B4-BE49-F238E27FC236}">
                <a16:creationId xmlns:a16="http://schemas.microsoft.com/office/drawing/2014/main" id="{F1C5F684-3AB5-F200-2A65-B2FF25D8AAEC}"/>
              </a:ext>
            </a:extLst>
          </p:cNvPr>
          <p:cNvSpPr txBox="1"/>
          <p:nvPr/>
        </p:nvSpPr>
        <p:spPr>
          <a:xfrm>
            <a:off x="900879" y="6032208"/>
            <a:ext cx="10390239" cy="646331"/>
          </a:xfrm>
          <a:prstGeom prst="rect">
            <a:avLst/>
          </a:prstGeom>
          <a:noFill/>
        </p:spPr>
        <p:txBody>
          <a:bodyPr wrap="square" rtlCol="0">
            <a:spAutoFit/>
          </a:bodyPr>
          <a:lstStyle/>
          <a:p>
            <a:r>
              <a:rPr lang="en-IN" sz="1200" dirty="0"/>
              <a:t>Reference - https://rfic.paginas.ufsc.br/files/2015/06/MPereira_tim2015.pdf#:~:text=In%20capacitive%20coupling%20%28Fig.%201,is%20sensitive%20to%20environmental%20interference</a:t>
            </a:r>
          </a:p>
        </p:txBody>
      </p:sp>
      <p:sp>
        <p:nvSpPr>
          <p:cNvPr id="5" name="TextBox 4">
            <a:extLst>
              <a:ext uri="{FF2B5EF4-FFF2-40B4-BE49-F238E27FC236}">
                <a16:creationId xmlns:a16="http://schemas.microsoft.com/office/drawing/2014/main" id="{5DEF9147-5825-B732-916D-E4443EE3A80B}"/>
              </a:ext>
            </a:extLst>
          </p:cNvPr>
          <p:cNvSpPr txBox="1"/>
          <p:nvPr/>
        </p:nvSpPr>
        <p:spPr>
          <a:xfrm>
            <a:off x="900879" y="1956619"/>
            <a:ext cx="7995009" cy="369332"/>
          </a:xfrm>
          <a:prstGeom prst="rect">
            <a:avLst/>
          </a:prstGeom>
          <a:noFill/>
        </p:spPr>
        <p:txBody>
          <a:bodyPr wrap="none" rtlCol="0">
            <a:spAutoFit/>
          </a:bodyPr>
          <a:lstStyle/>
          <a:p>
            <a:r>
              <a:rPr lang="en-IN" dirty="0">
                <a:highlight>
                  <a:srgbClr val="FFFF00"/>
                </a:highlight>
              </a:rPr>
              <a:t>A paper demonstrating the mechanism of capacitive coupling and galvanic coupling.</a:t>
            </a:r>
          </a:p>
        </p:txBody>
      </p:sp>
    </p:spTree>
    <p:extLst>
      <p:ext uri="{BB962C8B-B14F-4D97-AF65-F5344CB8AC3E}">
        <p14:creationId xmlns:p14="http://schemas.microsoft.com/office/powerpoint/2010/main" val="3474013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5F56-5ACA-0A9A-ECE6-12B3AFD97714}"/>
              </a:ext>
            </a:extLst>
          </p:cNvPr>
          <p:cNvSpPr>
            <a:spLocks noGrp="1"/>
          </p:cNvSpPr>
          <p:nvPr>
            <p:ph type="title"/>
          </p:nvPr>
        </p:nvSpPr>
        <p:spPr/>
        <p:txBody>
          <a:bodyPr/>
          <a:lstStyle/>
          <a:p>
            <a:pPr algn="ctr"/>
            <a:r>
              <a:rPr lang="en-US" dirty="0"/>
              <a:t>A Simulation Platform to Study the Human Body Communication Channel</a:t>
            </a:r>
            <a:endParaRPr lang="en-IN" dirty="0"/>
          </a:p>
        </p:txBody>
      </p:sp>
      <p:sp>
        <p:nvSpPr>
          <p:cNvPr id="3" name="TextBox 2">
            <a:extLst>
              <a:ext uri="{FF2B5EF4-FFF2-40B4-BE49-F238E27FC236}">
                <a16:creationId xmlns:a16="http://schemas.microsoft.com/office/drawing/2014/main" id="{A0489B7C-764B-12CA-0E84-059116E849CB}"/>
              </a:ext>
            </a:extLst>
          </p:cNvPr>
          <p:cNvSpPr txBox="1"/>
          <p:nvPr/>
        </p:nvSpPr>
        <p:spPr>
          <a:xfrm>
            <a:off x="782893" y="6020182"/>
            <a:ext cx="10736825" cy="646331"/>
          </a:xfrm>
          <a:prstGeom prst="rect">
            <a:avLst/>
          </a:prstGeom>
          <a:noFill/>
        </p:spPr>
        <p:txBody>
          <a:bodyPr wrap="square" rtlCol="0">
            <a:spAutoFit/>
          </a:bodyPr>
          <a:lstStyle/>
          <a:p>
            <a:r>
              <a:rPr lang="en-IN" sz="1200" dirty="0"/>
              <a:t>Reference:</a:t>
            </a:r>
            <a:br>
              <a:rPr lang="en-IN" sz="1200" dirty="0"/>
            </a:br>
            <a:r>
              <a:rPr lang="en-IN" sz="1200" dirty="0"/>
              <a:t>https://tsapps.nist.gov/publication/get_pdf.cfm?pub_id=927897#:~:text=Circuit%20models%20representing%20the%20HBC,were%20modeled%20as%20circuit%20elements	</a:t>
            </a:r>
          </a:p>
        </p:txBody>
      </p:sp>
      <p:sp>
        <p:nvSpPr>
          <p:cNvPr id="4" name="TextBox 3">
            <a:extLst>
              <a:ext uri="{FF2B5EF4-FFF2-40B4-BE49-F238E27FC236}">
                <a16:creationId xmlns:a16="http://schemas.microsoft.com/office/drawing/2014/main" id="{5878FA16-25FE-5EBC-05BC-9F7081D087CD}"/>
              </a:ext>
            </a:extLst>
          </p:cNvPr>
          <p:cNvSpPr txBox="1"/>
          <p:nvPr/>
        </p:nvSpPr>
        <p:spPr>
          <a:xfrm>
            <a:off x="838200" y="2054942"/>
            <a:ext cx="10626212" cy="4247317"/>
          </a:xfrm>
          <a:prstGeom prst="rect">
            <a:avLst/>
          </a:prstGeom>
          <a:noFill/>
        </p:spPr>
        <p:txBody>
          <a:bodyPr wrap="square" rtlCol="0">
            <a:spAutoFit/>
          </a:bodyPr>
          <a:lstStyle/>
          <a:p>
            <a:r>
              <a:rPr lang="en-IN" dirty="0">
                <a:highlight>
                  <a:srgbClr val="FFFF00"/>
                </a:highlight>
              </a:rPr>
              <a:t>This paper demonstrates the use of FEM(Finite Element Method) tools.</a:t>
            </a:r>
          </a:p>
          <a:p>
            <a:endParaRPr lang="en-IN" dirty="0"/>
          </a:p>
          <a:p>
            <a:r>
              <a:rPr lang="en-IN" dirty="0"/>
              <a:t>Abstract:</a:t>
            </a:r>
            <a:br>
              <a:rPr lang="en-IN" dirty="0"/>
            </a:br>
            <a:r>
              <a:rPr lang="en-US" dirty="0"/>
              <a:t>Human Body Communication (HBC) is an attractive low complexity technology with promising applications in wearable biomedical sensors. In this paper, a simple parametric model based on the finite-element method (FEM) using a full human body model is developed to virtually emulate and examine the HBC channel. FEM allows better modeling and quantification of the underlying physical phenomena including the impact of the human body for the desired applications. By adjusting the parameters of the model, a good match with the limited measurement results in the literature is observed. Having a flexible and customizable simulation platform could be very helpful to better understand the communication medium for capacitively coupled electrodes in HBC. This knowledge, in turn, leads to better transceiver design for given applications. The platform presented here can also be extended to study communication channel characteristics when the HBC mechanism is used by an implant device. </a:t>
            </a:r>
            <a:br>
              <a:rPr lang="en-IN" dirty="0"/>
            </a:br>
            <a:br>
              <a:rPr lang="en-IN" dirty="0"/>
            </a:br>
            <a:endParaRPr lang="en-IN" dirty="0"/>
          </a:p>
        </p:txBody>
      </p:sp>
    </p:spTree>
    <p:extLst>
      <p:ext uri="{BB962C8B-B14F-4D97-AF65-F5344CB8AC3E}">
        <p14:creationId xmlns:p14="http://schemas.microsoft.com/office/powerpoint/2010/main" val="1830139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8BCE6-9F77-497B-F655-BADB39858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0D9AC-40F0-3385-ED8D-8BD8E25AAD14}"/>
              </a:ext>
            </a:extLst>
          </p:cNvPr>
          <p:cNvSpPr>
            <a:spLocks noGrp="1"/>
          </p:cNvSpPr>
          <p:nvPr>
            <p:ph type="title"/>
          </p:nvPr>
        </p:nvSpPr>
        <p:spPr/>
        <p:txBody>
          <a:bodyPr>
            <a:normAutofit fontScale="90000"/>
          </a:bodyPr>
          <a:lstStyle/>
          <a:p>
            <a:pPr algn="ctr"/>
            <a:r>
              <a:rPr lang="en-US" dirty="0"/>
              <a:t>Channel Modeling of Miniaturized Battery-Powered Capacitive Human Body Communication Systems</a:t>
            </a:r>
          </a:p>
        </p:txBody>
      </p:sp>
      <p:sp>
        <p:nvSpPr>
          <p:cNvPr id="3" name="TextBox 2">
            <a:extLst>
              <a:ext uri="{FF2B5EF4-FFF2-40B4-BE49-F238E27FC236}">
                <a16:creationId xmlns:a16="http://schemas.microsoft.com/office/drawing/2014/main" id="{A6EABA7A-A557-8932-2BB1-4BCC9D18F4AD}"/>
              </a:ext>
            </a:extLst>
          </p:cNvPr>
          <p:cNvSpPr txBox="1"/>
          <p:nvPr/>
        </p:nvSpPr>
        <p:spPr>
          <a:xfrm>
            <a:off x="782893" y="6020182"/>
            <a:ext cx="10736825" cy="461665"/>
          </a:xfrm>
          <a:prstGeom prst="rect">
            <a:avLst/>
          </a:prstGeom>
          <a:noFill/>
        </p:spPr>
        <p:txBody>
          <a:bodyPr wrap="square" rtlCol="0">
            <a:spAutoFit/>
          </a:bodyPr>
          <a:lstStyle/>
          <a:p>
            <a:r>
              <a:rPr lang="en-IN" sz="1200" dirty="0"/>
              <a:t>Reference:</a:t>
            </a:r>
            <a:br>
              <a:rPr lang="en-IN" sz="1200" dirty="0"/>
            </a:br>
            <a:r>
              <a:rPr lang="en-IN" sz="1200" dirty="0"/>
              <a:t>https://pubmed.ncbi.nlm.nih.gov/27164566/#:~:text=Results%3A%20%20Measurements%20from%20form,7%20dB%2C%20respectively	</a:t>
            </a:r>
          </a:p>
        </p:txBody>
      </p:sp>
      <p:sp>
        <p:nvSpPr>
          <p:cNvPr id="4" name="TextBox 3">
            <a:extLst>
              <a:ext uri="{FF2B5EF4-FFF2-40B4-BE49-F238E27FC236}">
                <a16:creationId xmlns:a16="http://schemas.microsoft.com/office/drawing/2014/main" id="{4CCE1556-6CD4-C898-3452-B163B19D0842}"/>
              </a:ext>
            </a:extLst>
          </p:cNvPr>
          <p:cNvSpPr txBox="1"/>
          <p:nvPr/>
        </p:nvSpPr>
        <p:spPr>
          <a:xfrm>
            <a:off x="838200" y="2054942"/>
            <a:ext cx="10626212" cy="2862322"/>
          </a:xfrm>
          <a:prstGeom prst="rect">
            <a:avLst/>
          </a:prstGeom>
          <a:noFill/>
        </p:spPr>
        <p:txBody>
          <a:bodyPr wrap="square" rtlCol="0">
            <a:spAutoFit/>
          </a:bodyPr>
          <a:lstStyle/>
          <a:p>
            <a:r>
              <a:rPr lang="en-US" dirty="0">
                <a:highlight>
                  <a:srgbClr val="FFFF00"/>
                </a:highlight>
              </a:rPr>
              <a:t>The purpose of this contribution is to estimate the path loss of capacitive human body communication (HBC) systems under practical conditions.</a:t>
            </a:r>
          </a:p>
          <a:p>
            <a:br>
              <a:rPr lang="en-IN" dirty="0"/>
            </a:br>
            <a:br>
              <a:rPr lang="en-IN" dirty="0"/>
            </a:br>
            <a:r>
              <a:rPr lang="en-US" dirty="0"/>
              <a:t>The purpose of this contribution is to estimate the path loss of capacitive human body communication (HBC) systems under practical conditions. Methods: Most prior work utilizes large grounded instruments to perform path loss measurements, resulting in overly optimistic path loss estimates for wearable HBC devices. In this paper, small battery-powered transmitter and receiver devices are implemented to measure path loss under realistic assumptions. A hybrid electrostatic finite element method simulation model is presented that validates measurements and enables rapid and accurate characterization of future capacitive HBC systems.</a:t>
            </a:r>
            <a:endParaRPr lang="en-IN" dirty="0"/>
          </a:p>
        </p:txBody>
      </p:sp>
    </p:spTree>
    <p:extLst>
      <p:ext uri="{BB962C8B-B14F-4D97-AF65-F5344CB8AC3E}">
        <p14:creationId xmlns:p14="http://schemas.microsoft.com/office/powerpoint/2010/main" val="2709089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2EA1-012D-3D7C-44DF-548DBF9C8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2038A-F5A3-78A1-D6EC-37DA30E61F24}"/>
              </a:ext>
            </a:extLst>
          </p:cNvPr>
          <p:cNvSpPr>
            <a:spLocks noGrp="1"/>
          </p:cNvSpPr>
          <p:nvPr>
            <p:ph type="title"/>
          </p:nvPr>
        </p:nvSpPr>
        <p:spPr/>
        <p:txBody>
          <a:bodyPr>
            <a:normAutofit/>
          </a:bodyPr>
          <a:lstStyle/>
          <a:p>
            <a:pPr algn="ctr"/>
            <a:r>
              <a:rPr lang="en-US" dirty="0"/>
              <a:t>EM Simulation and Analysis on the Ground Electrode of Human Body Communication</a:t>
            </a:r>
          </a:p>
        </p:txBody>
      </p:sp>
      <p:sp>
        <p:nvSpPr>
          <p:cNvPr id="3" name="TextBox 2">
            <a:extLst>
              <a:ext uri="{FF2B5EF4-FFF2-40B4-BE49-F238E27FC236}">
                <a16:creationId xmlns:a16="http://schemas.microsoft.com/office/drawing/2014/main" id="{6E703EE0-861D-7429-2B3A-358B16BA17FB}"/>
              </a:ext>
            </a:extLst>
          </p:cNvPr>
          <p:cNvSpPr txBox="1"/>
          <p:nvPr/>
        </p:nvSpPr>
        <p:spPr>
          <a:xfrm>
            <a:off x="782893" y="6020182"/>
            <a:ext cx="10736825" cy="461665"/>
          </a:xfrm>
          <a:prstGeom prst="rect">
            <a:avLst/>
          </a:prstGeom>
          <a:noFill/>
        </p:spPr>
        <p:txBody>
          <a:bodyPr wrap="square" rtlCol="0">
            <a:spAutoFit/>
          </a:bodyPr>
          <a:lstStyle/>
          <a:p>
            <a:r>
              <a:rPr lang="en-IN" sz="1200" dirty="0"/>
              <a:t>Reference:</a:t>
            </a:r>
            <a:br>
              <a:rPr lang="en-IN" sz="1200" dirty="0"/>
            </a:br>
            <a:r>
              <a:rPr lang="en-IN" sz="1200" dirty="0"/>
              <a:t>https://ieeexplore.ieee.org/stamp/stamp.jsp?tp=&amp;arnumber=4058022	</a:t>
            </a:r>
          </a:p>
        </p:txBody>
      </p:sp>
      <p:sp>
        <p:nvSpPr>
          <p:cNvPr id="4" name="TextBox 3">
            <a:extLst>
              <a:ext uri="{FF2B5EF4-FFF2-40B4-BE49-F238E27FC236}">
                <a16:creationId xmlns:a16="http://schemas.microsoft.com/office/drawing/2014/main" id="{F7EAC492-7B7A-4C56-DE35-943A649BE014}"/>
              </a:ext>
            </a:extLst>
          </p:cNvPr>
          <p:cNvSpPr txBox="1"/>
          <p:nvPr/>
        </p:nvSpPr>
        <p:spPr>
          <a:xfrm>
            <a:off x="838200" y="2054942"/>
            <a:ext cx="10626212" cy="3139321"/>
          </a:xfrm>
          <a:prstGeom prst="rect">
            <a:avLst/>
          </a:prstGeom>
          <a:noFill/>
        </p:spPr>
        <p:txBody>
          <a:bodyPr wrap="square" rtlCol="0">
            <a:spAutoFit/>
          </a:bodyPr>
          <a:lstStyle/>
          <a:p>
            <a:r>
              <a:rPr lang="en-US" dirty="0">
                <a:highlight>
                  <a:srgbClr val="FFFF00"/>
                </a:highlight>
              </a:rPr>
              <a:t>In the human body communication, a data from one device is transmitted to another device through human body. The human body communication has an advantage that the devices can communicate conveniently without an additional wire. </a:t>
            </a:r>
          </a:p>
          <a:p>
            <a:endParaRPr lang="en-US" dirty="0">
              <a:highlight>
                <a:srgbClr val="FFFF00"/>
              </a:highlight>
            </a:endParaRPr>
          </a:p>
          <a:p>
            <a:r>
              <a:rPr lang="en-US" dirty="0"/>
              <a:t>In this paper, the measurement results on the effects of ground electrode according to the transmission distance are presented. A biological tissue-equivalent phantom has been used in the measurement of previous paper [2], but a real human body is used in this paper. Also, the measurement results are analyzed by EM simulation. In the previous papers [2]-[3], the simulation model for human body has been composed of only muscle tissue. In this paper, more accurate model composed of muscle and other tissues is used during the simulation. Finally, the method by which a ground electrode can be used more efficiently is proposed based on the measurement results. </a:t>
            </a:r>
            <a:endParaRPr lang="en-IN" dirty="0"/>
          </a:p>
        </p:txBody>
      </p:sp>
    </p:spTree>
    <p:extLst>
      <p:ext uri="{BB962C8B-B14F-4D97-AF65-F5344CB8AC3E}">
        <p14:creationId xmlns:p14="http://schemas.microsoft.com/office/powerpoint/2010/main" val="1712937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E2702-FDAA-30E7-72F1-98DCC3C1D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C7F7A-B3DB-E18A-D75F-E32572F96DDE}"/>
              </a:ext>
            </a:extLst>
          </p:cNvPr>
          <p:cNvSpPr>
            <a:spLocks noGrp="1"/>
          </p:cNvSpPr>
          <p:nvPr>
            <p:ph type="title"/>
          </p:nvPr>
        </p:nvSpPr>
        <p:spPr/>
        <p:txBody>
          <a:bodyPr>
            <a:normAutofit/>
          </a:bodyPr>
          <a:lstStyle/>
          <a:p>
            <a:pPr algn="ctr"/>
            <a:r>
              <a:rPr lang="en-US" dirty="0"/>
              <a:t>Wearable Health Monitoring Using Capacitive Voltage-Mode Human Body Communication</a:t>
            </a:r>
          </a:p>
        </p:txBody>
      </p:sp>
      <p:sp>
        <p:nvSpPr>
          <p:cNvPr id="3" name="TextBox 2">
            <a:extLst>
              <a:ext uri="{FF2B5EF4-FFF2-40B4-BE49-F238E27FC236}">
                <a16:creationId xmlns:a16="http://schemas.microsoft.com/office/drawing/2014/main" id="{096F89A5-30F9-CE6F-F0ED-879B86FF73CC}"/>
              </a:ext>
            </a:extLst>
          </p:cNvPr>
          <p:cNvSpPr txBox="1"/>
          <p:nvPr/>
        </p:nvSpPr>
        <p:spPr>
          <a:xfrm>
            <a:off x="782893" y="6020182"/>
            <a:ext cx="10736825" cy="461665"/>
          </a:xfrm>
          <a:prstGeom prst="rect">
            <a:avLst/>
          </a:prstGeom>
          <a:noFill/>
        </p:spPr>
        <p:txBody>
          <a:bodyPr wrap="square" rtlCol="0">
            <a:spAutoFit/>
          </a:bodyPr>
          <a:lstStyle/>
          <a:p>
            <a:r>
              <a:rPr lang="en-IN" sz="1200" dirty="0"/>
              <a:t>Reference:</a:t>
            </a:r>
            <a:br>
              <a:rPr lang="en-IN" sz="1200" dirty="0"/>
            </a:br>
            <a:r>
              <a:rPr lang="en-IN" sz="1200" dirty="0"/>
              <a:t>https://ieeexplore.ieee.org/stamp/stamp.jsp?tp=&amp;arnumber=8036748</a:t>
            </a:r>
          </a:p>
        </p:txBody>
      </p:sp>
      <p:sp>
        <p:nvSpPr>
          <p:cNvPr id="4" name="TextBox 3">
            <a:extLst>
              <a:ext uri="{FF2B5EF4-FFF2-40B4-BE49-F238E27FC236}">
                <a16:creationId xmlns:a16="http://schemas.microsoft.com/office/drawing/2014/main" id="{938E8594-F01C-CDAD-C01C-5F933A76E8D8}"/>
              </a:ext>
            </a:extLst>
          </p:cNvPr>
          <p:cNvSpPr txBox="1"/>
          <p:nvPr/>
        </p:nvSpPr>
        <p:spPr>
          <a:xfrm>
            <a:off x="838200" y="2054942"/>
            <a:ext cx="10626212" cy="2308324"/>
          </a:xfrm>
          <a:prstGeom prst="rect">
            <a:avLst/>
          </a:prstGeom>
          <a:noFill/>
        </p:spPr>
        <p:txBody>
          <a:bodyPr wrap="square" rtlCol="0">
            <a:spAutoFit/>
          </a:bodyPr>
          <a:lstStyle/>
          <a:p>
            <a:r>
              <a:rPr lang="en-US" dirty="0">
                <a:highlight>
                  <a:srgbClr val="FFFF00"/>
                </a:highlight>
              </a:rPr>
              <a:t>This paper demonstrates the application of HBC in Health Monitoring.</a:t>
            </a:r>
          </a:p>
          <a:p>
            <a:endParaRPr lang="en-US" dirty="0">
              <a:highlight>
                <a:srgbClr val="FFFF00"/>
              </a:highlight>
            </a:endParaRPr>
          </a:p>
          <a:p>
            <a:r>
              <a:rPr lang="en-US" dirty="0"/>
              <a:t>In this paper, we demonstrate a health monitoring device and system built using Commercial-Off-</a:t>
            </a:r>
            <a:r>
              <a:rPr lang="en-US" dirty="0" err="1"/>
              <a:t>TheShelf</a:t>
            </a:r>
            <a:r>
              <a:rPr lang="en-US" dirty="0"/>
              <a:t> (COTS) sensors and components, that can collect data from physiological sensors and transmit it through a) intra-body HBC to another device (hub) worn on the body or b) upload health data through HBC-based human-machine interaction to an HBC capable machine. The system design constraints and signal transfer characteristics for the implemented HBC-based wearable health monitoring system are measured and analyzed, showing reliable connectivity with &gt;8x power savings compared to Bluetooth </a:t>
            </a:r>
            <a:r>
              <a:rPr lang="en-US" dirty="0" err="1"/>
              <a:t>lowenergy</a:t>
            </a:r>
            <a:r>
              <a:rPr lang="en-US" dirty="0"/>
              <a:t> (BTLE).</a:t>
            </a:r>
            <a:endParaRPr lang="en-IN" dirty="0"/>
          </a:p>
        </p:txBody>
      </p:sp>
    </p:spTree>
    <p:extLst>
      <p:ext uri="{BB962C8B-B14F-4D97-AF65-F5344CB8AC3E}">
        <p14:creationId xmlns:p14="http://schemas.microsoft.com/office/powerpoint/2010/main" val="761783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3ACC9-BBF8-0931-AA3A-8E75D3C2C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F4698-0A46-1D2A-E64B-3EE7ADE75B76}"/>
              </a:ext>
            </a:extLst>
          </p:cNvPr>
          <p:cNvSpPr>
            <a:spLocks noGrp="1"/>
          </p:cNvSpPr>
          <p:nvPr>
            <p:ph type="title"/>
          </p:nvPr>
        </p:nvSpPr>
        <p:spPr/>
        <p:txBody>
          <a:bodyPr>
            <a:normAutofit/>
          </a:bodyPr>
          <a:lstStyle/>
          <a:p>
            <a:pPr algn="ctr"/>
            <a:r>
              <a:rPr lang="en-US" dirty="0"/>
              <a:t>An Empirical Channel Model for Human Body Communication</a:t>
            </a:r>
          </a:p>
        </p:txBody>
      </p:sp>
      <p:sp>
        <p:nvSpPr>
          <p:cNvPr id="3" name="TextBox 2">
            <a:extLst>
              <a:ext uri="{FF2B5EF4-FFF2-40B4-BE49-F238E27FC236}">
                <a16:creationId xmlns:a16="http://schemas.microsoft.com/office/drawing/2014/main" id="{8E869E70-0EE9-666C-03B4-77F49202D3D9}"/>
              </a:ext>
            </a:extLst>
          </p:cNvPr>
          <p:cNvSpPr txBox="1"/>
          <p:nvPr/>
        </p:nvSpPr>
        <p:spPr>
          <a:xfrm>
            <a:off x="838200" y="6031210"/>
            <a:ext cx="10736825" cy="461665"/>
          </a:xfrm>
          <a:prstGeom prst="rect">
            <a:avLst/>
          </a:prstGeom>
          <a:noFill/>
        </p:spPr>
        <p:txBody>
          <a:bodyPr wrap="square" rtlCol="0">
            <a:spAutoFit/>
          </a:bodyPr>
          <a:lstStyle/>
          <a:p>
            <a:r>
              <a:rPr lang="en-IN" sz="1200" dirty="0"/>
              <a:t>Reference:</a:t>
            </a:r>
            <a:br>
              <a:rPr lang="en-IN" sz="1200" dirty="0"/>
            </a:br>
            <a:r>
              <a:rPr lang="en-IN" sz="1200" dirty="0"/>
              <a:t>https://ieeexplore.ieee.org/stamp/stamp.jsp?tp=&amp;arnumber=5672675</a:t>
            </a:r>
          </a:p>
        </p:txBody>
      </p:sp>
      <p:sp>
        <p:nvSpPr>
          <p:cNvPr id="4" name="TextBox 3">
            <a:extLst>
              <a:ext uri="{FF2B5EF4-FFF2-40B4-BE49-F238E27FC236}">
                <a16:creationId xmlns:a16="http://schemas.microsoft.com/office/drawing/2014/main" id="{ABE24869-19D0-C204-8F01-EA7B1190FDB9}"/>
              </a:ext>
            </a:extLst>
          </p:cNvPr>
          <p:cNvSpPr txBox="1"/>
          <p:nvPr/>
        </p:nvSpPr>
        <p:spPr>
          <a:xfrm>
            <a:off x="838200" y="2054942"/>
            <a:ext cx="10626212" cy="1754326"/>
          </a:xfrm>
          <a:prstGeom prst="rect">
            <a:avLst/>
          </a:prstGeom>
          <a:noFill/>
        </p:spPr>
        <p:txBody>
          <a:bodyPr wrap="square" rtlCol="0">
            <a:spAutoFit/>
          </a:bodyPr>
          <a:lstStyle/>
          <a:p>
            <a:r>
              <a:rPr lang="en-US" dirty="0">
                <a:highlight>
                  <a:srgbClr val="FFFF00"/>
                </a:highlight>
              </a:rPr>
              <a:t>Empirical Channel Model (a type of Human Body Communication Model).</a:t>
            </a:r>
          </a:p>
          <a:p>
            <a:endParaRPr lang="en-US" dirty="0">
              <a:highlight>
                <a:srgbClr val="FFFF00"/>
              </a:highlight>
            </a:endParaRPr>
          </a:p>
          <a:p>
            <a:r>
              <a:rPr lang="en-US" dirty="0"/>
              <a:t>This paper presents a statistical characterization of one Human Body Communication (HBC) channel model based on empirical data. The measurements which were conducted on a considerable amount of people guarantee the precision of the model. An adequate evaluation about the path loss, delay spread is convenience and appropriate to design the advanced wideband HBC system.</a:t>
            </a:r>
            <a:endParaRPr lang="en-IN" dirty="0"/>
          </a:p>
        </p:txBody>
      </p:sp>
    </p:spTree>
    <p:extLst>
      <p:ext uri="{BB962C8B-B14F-4D97-AF65-F5344CB8AC3E}">
        <p14:creationId xmlns:p14="http://schemas.microsoft.com/office/powerpoint/2010/main" val="1435874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2100D-79DE-8D42-9233-147268973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DB51C-5652-62B8-C0E0-529472AFBA37}"/>
              </a:ext>
            </a:extLst>
          </p:cNvPr>
          <p:cNvSpPr>
            <a:spLocks noGrp="1"/>
          </p:cNvSpPr>
          <p:nvPr>
            <p:ph type="title"/>
          </p:nvPr>
        </p:nvSpPr>
        <p:spPr/>
        <p:txBody>
          <a:bodyPr>
            <a:normAutofit fontScale="90000"/>
          </a:bodyPr>
          <a:lstStyle/>
          <a:p>
            <a:pPr algn="ctr"/>
            <a:r>
              <a:rPr lang="en-US" dirty="0"/>
              <a:t>A Five-Tissue-Layer Human Body Communication Circuit Model Tunable to Individual Characteristics</a:t>
            </a:r>
          </a:p>
        </p:txBody>
      </p:sp>
      <p:sp>
        <p:nvSpPr>
          <p:cNvPr id="3" name="TextBox 2">
            <a:extLst>
              <a:ext uri="{FF2B5EF4-FFF2-40B4-BE49-F238E27FC236}">
                <a16:creationId xmlns:a16="http://schemas.microsoft.com/office/drawing/2014/main" id="{89D0CCE5-5D9F-92C2-E08B-739F195D88A1}"/>
              </a:ext>
            </a:extLst>
          </p:cNvPr>
          <p:cNvSpPr txBox="1"/>
          <p:nvPr/>
        </p:nvSpPr>
        <p:spPr>
          <a:xfrm>
            <a:off x="838200" y="6031210"/>
            <a:ext cx="10736825" cy="461665"/>
          </a:xfrm>
          <a:prstGeom prst="rect">
            <a:avLst/>
          </a:prstGeom>
          <a:noFill/>
        </p:spPr>
        <p:txBody>
          <a:bodyPr wrap="square" rtlCol="0">
            <a:spAutoFit/>
          </a:bodyPr>
          <a:lstStyle/>
          <a:p>
            <a:r>
              <a:rPr lang="en-IN" sz="1200" dirty="0"/>
              <a:t>Reference:</a:t>
            </a:r>
            <a:br>
              <a:rPr lang="en-IN" sz="1200" dirty="0"/>
            </a:br>
            <a:r>
              <a:rPr lang="en-IN" sz="1200" dirty="0"/>
              <a:t>https://ieeexplore.ieee.org/stamp/stamp.jsp?tp=&amp;arnumber=8305504</a:t>
            </a:r>
          </a:p>
        </p:txBody>
      </p:sp>
      <p:sp>
        <p:nvSpPr>
          <p:cNvPr id="4" name="TextBox 3">
            <a:extLst>
              <a:ext uri="{FF2B5EF4-FFF2-40B4-BE49-F238E27FC236}">
                <a16:creationId xmlns:a16="http://schemas.microsoft.com/office/drawing/2014/main" id="{119DBBAB-B741-FF73-FB2E-1E0039D79B97}"/>
              </a:ext>
            </a:extLst>
          </p:cNvPr>
          <p:cNvSpPr txBox="1"/>
          <p:nvPr/>
        </p:nvSpPr>
        <p:spPr>
          <a:xfrm>
            <a:off x="838200" y="2054942"/>
            <a:ext cx="10626212" cy="2862322"/>
          </a:xfrm>
          <a:prstGeom prst="rect">
            <a:avLst/>
          </a:prstGeom>
          <a:noFill/>
        </p:spPr>
        <p:txBody>
          <a:bodyPr wrap="square" rtlCol="0">
            <a:spAutoFit/>
          </a:bodyPr>
          <a:lstStyle/>
          <a:p>
            <a:r>
              <a:rPr lang="en-US" dirty="0">
                <a:highlight>
                  <a:srgbClr val="FFFF00"/>
                </a:highlight>
              </a:rPr>
              <a:t>The five-layered tissue model (Human Body Communication Model.)</a:t>
            </a:r>
          </a:p>
          <a:p>
            <a:endParaRPr lang="en-US" dirty="0">
              <a:highlight>
                <a:srgbClr val="FFFF00"/>
              </a:highlight>
            </a:endParaRPr>
          </a:p>
          <a:p>
            <a:r>
              <a:rPr lang="en-US" dirty="0"/>
              <a:t>Human body communication (HBC) has several advantages over traditional wireless communications due to the high conductivity of human body. An accurate body channel model plays a vital role in optimizing the performance and power of HBC transceivers. In this paper, we present a body channel model with three distinct features. First, it takes into account all five body tissue layers resulting better accuracy; second, it adapts to different individuals with the proposed layer thickness estimation technique; third, it counts in the variation of backward coupling capacitance versus different postures. These new features significantly improve the model accuracy. Measurement results show that the proposed model achieves a maximum error of 2.21% in path loss for different human subjects.</a:t>
            </a:r>
            <a:endParaRPr lang="en-IN" dirty="0"/>
          </a:p>
        </p:txBody>
      </p:sp>
    </p:spTree>
    <p:extLst>
      <p:ext uri="{BB962C8B-B14F-4D97-AF65-F5344CB8AC3E}">
        <p14:creationId xmlns:p14="http://schemas.microsoft.com/office/powerpoint/2010/main" val="2731335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ADB36-4107-DD86-B850-5899BD4D4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F6526-EAD9-7763-1322-61CE4F8F7B0C}"/>
              </a:ext>
            </a:extLst>
          </p:cNvPr>
          <p:cNvSpPr>
            <a:spLocks noGrp="1"/>
          </p:cNvSpPr>
          <p:nvPr>
            <p:ph type="title"/>
          </p:nvPr>
        </p:nvSpPr>
        <p:spPr/>
        <p:txBody>
          <a:bodyPr>
            <a:normAutofit fontScale="90000"/>
          </a:bodyPr>
          <a:lstStyle/>
          <a:p>
            <a:pPr algn="ctr"/>
            <a:r>
              <a:rPr lang="en-US" dirty="0"/>
              <a:t>Bio-Physical Modeling of Galvanic Human Body Communication in Electro-Quasistatic Regime</a:t>
            </a:r>
          </a:p>
        </p:txBody>
      </p:sp>
      <p:sp>
        <p:nvSpPr>
          <p:cNvPr id="3" name="TextBox 2">
            <a:extLst>
              <a:ext uri="{FF2B5EF4-FFF2-40B4-BE49-F238E27FC236}">
                <a16:creationId xmlns:a16="http://schemas.microsoft.com/office/drawing/2014/main" id="{5C5D97DE-8A62-2C2D-D96E-C3A507B46781}"/>
              </a:ext>
            </a:extLst>
          </p:cNvPr>
          <p:cNvSpPr txBox="1"/>
          <p:nvPr/>
        </p:nvSpPr>
        <p:spPr>
          <a:xfrm>
            <a:off x="838200" y="6031210"/>
            <a:ext cx="10736825" cy="461665"/>
          </a:xfrm>
          <a:prstGeom prst="rect">
            <a:avLst/>
          </a:prstGeom>
          <a:noFill/>
        </p:spPr>
        <p:txBody>
          <a:bodyPr wrap="square" rtlCol="0">
            <a:spAutoFit/>
          </a:bodyPr>
          <a:lstStyle/>
          <a:p>
            <a:r>
              <a:rPr lang="en-IN" sz="1200" dirty="0"/>
              <a:t>Reference:</a:t>
            </a:r>
            <a:br>
              <a:rPr lang="en-IN" sz="1200" dirty="0"/>
            </a:br>
            <a:r>
              <a:rPr lang="en-IN" sz="1200" dirty="0"/>
              <a:t>https://ieeexplore.ieee.org/stamp/stamp.jsp?tp=&amp;arnumber=9779520</a:t>
            </a:r>
          </a:p>
        </p:txBody>
      </p:sp>
      <p:sp>
        <p:nvSpPr>
          <p:cNvPr id="4" name="TextBox 3">
            <a:extLst>
              <a:ext uri="{FF2B5EF4-FFF2-40B4-BE49-F238E27FC236}">
                <a16:creationId xmlns:a16="http://schemas.microsoft.com/office/drawing/2014/main" id="{489341B1-30DA-E947-EC43-CA67A2CBBA5B}"/>
              </a:ext>
            </a:extLst>
          </p:cNvPr>
          <p:cNvSpPr txBox="1"/>
          <p:nvPr/>
        </p:nvSpPr>
        <p:spPr>
          <a:xfrm>
            <a:off x="838200" y="2054942"/>
            <a:ext cx="10626212" cy="3416320"/>
          </a:xfrm>
          <a:prstGeom prst="rect">
            <a:avLst/>
          </a:prstGeom>
          <a:noFill/>
        </p:spPr>
        <p:txBody>
          <a:bodyPr wrap="square" rtlCol="0">
            <a:spAutoFit/>
          </a:bodyPr>
          <a:lstStyle/>
          <a:p>
            <a:r>
              <a:rPr lang="en-US" dirty="0">
                <a:highlight>
                  <a:srgbClr val="FFFF00"/>
                </a:highlight>
              </a:rPr>
              <a:t>Human Body Communication Model.</a:t>
            </a:r>
          </a:p>
          <a:p>
            <a:endParaRPr lang="en-US" dirty="0">
              <a:highlight>
                <a:srgbClr val="FFFF00"/>
              </a:highlight>
            </a:endParaRPr>
          </a:p>
          <a:p>
            <a:r>
              <a:rPr lang="en-US" dirty="0"/>
              <a:t>The objective of this paper is to present an improved lumped element-based detailed model of Galvanic HBC channel which can be used to explain the dependency of the channel </a:t>
            </a:r>
            <a:r>
              <a:rPr lang="en-US" dirty="0" err="1"/>
              <a:t>behaviour</a:t>
            </a:r>
            <a:r>
              <a:rPr lang="en-US" dirty="0"/>
              <a:t> on the internal body dependent parameters such as electrical properties of skin and muscle tissue layers along with the external parameters such as electrode size, electrode separation, geometrical position of the electrodes and return-path or parasitic capacitances. The model considers the frequency dependent impedance of skin and muscle tissue layers and the effect of various coupling capacitances between the body and Tx/Rx electrodes to the Earth-Ground. A 2D planar structure of skin and muscle tissue layers is simulated using a Finite Element Method (FEM) tool to prove the validity of the proposed model. The effect of symmetry and asymmetry at the transmitter and receiver ends is also explained using the model. The model become very useful for fast calculation of Galvanic channel response without using any FEM tool.</a:t>
            </a:r>
            <a:endParaRPr lang="en-IN" dirty="0"/>
          </a:p>
        </p:txBody>
      </p:sp>
    </p:spTree>
    <p:extLst>
      <p:ext uri="{BB962C8B-B14F-4D97-AF65-F5344CB8AC3E}">
        <p14:creationId xmlns:p14="http://schemas.microsoft.com/office/powerpoint/2010/main" val="629103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7284A-38D1-DE06-0C6A-224C743FE465}"/>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585B6737-4822-83C1-E085-A746BCB3B348}"/>
              </a:ext>
            </a:extLst>
          </p:cNvPr>
          <p:cNvSpPr>
            <a:spLocks noGrp="1" noChangeArrowheads="1"/>
          </p:cNvSpPr>
          <p:nvPr>
            <p:ph type="title"/>
          </p:nvPr>
        </p:nvSpPr>
        <p:spPr bwMode="auto">
          <a:xfrm>
            <a:off x="960693" y="1658856"/>
            <a:ext cx="10270614"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1) Lumped Element Models</a:t>
            </a:r>
            <a:r>
              <a:rPr kumimoji="0" lang="en-US" altLang="en-US" sz="1600" b="0" i="0" u="none" strike="noStrike" cap="none" normalizeH="0" baseline="0" dirty="0">
                <a:ln>
                  <a:noFill/>
                </a:ln>
                <a:solidFill>
                  <a:schemeClr val="tx1"/>
                </a:solidFill>
                <a:effectLst/>
                <a:latin typeface="Arial" panose="020B0604020202020204" pitchFamily="34" charset="0"/>
              </a:rPr>
              <a:t>: The body is modeled as a bunch of basic electrical parts connected in a chain—resistors for tissue resistance, capacitors for how charge builds up between layers, and sometimes inductors for magnetic effects. For example skin might be a high resistor, muscles a low one. </a:t>
            </a: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b="1" dirty="0">
                <a:latin typeface="Arial" panose="020B0604020202020204" pitchFamily="34" charset="0"/>
              </a:rPr>
              <a:t>2) </a:t>
            </a:r>
            <a:r>
              <a:rPr kumimoji="0" lang="en-US" altLang="en-US" sz="1600" b="1" i="0" u="none" strike="noStrike" cap="none" normalizeH="0" baseline="0" dirty="0">
                <a:ln>
                  <a:noFill/>
                </a:ln>
                <a:solidFill>
                  <a:schemeClr val="tx1"/>
                </a:solidFill>
                <a:effectLst/>
                <a:latin typeface="Arial" panose="020B0604020202020204" pitchFamily="34" charset="0"/>
              </a:rPr>
              <a:t>Bio-Physical or Layered Tissue Models</a:t>
            </a:r>
            <a:r>
              <a:rPr lang="en-US" altLang="en-US" sz="1600" b="1" dirty="0">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 Divide the body into layers (five layers: skin, fat, muscle, cortex, bone). Each layer has its own electrical properties (conductivity, permittivity—how well it holds charge</a:t>
            </a:r>
            <a:r>
              <a:rPr lang="en-US" altLang="en-US" sz="1600" dirty="0">
                <a:latin typeface="Arial" panose="020B0604020202020204" pitchFamily="34" charset="0"/>
              </a:rPr>
              <a:t>.</a:t>
            </a: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3) Electro-Quasistatic Models</a:t>
            </a:r>
            <a:r>
              <a:rPr kumimoji="0" lang="en-US" altLang="en-US" sz="1600" b="0" i="0" u="none" strike="noStrike" cap="none" normalizeH="0" baseline="0" dirty="0">
                <a:ln>
                  <a:noFill/>
                </a:ln>
                <a:solidFill>
                  <a:schemeClr val="tx1"/>
                </a:solidFill>
                <a:effectLst/>
                <a:latin typeface="Arial" panose="020B0604020202020204" pitchFamily="34" charset="0"/>
              </a:rPr>
              <a:t>: These focus on low-frequency electric fields where magnetic effects are minimal. They're used for both galvanic and capacitive HBC, modeling the body as a transmission line.</a:t>
            </a: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4) Empirical or Statistical Models</a:t>
            </a:r>
            <a:r>
              <a:rPr kumimoji="0" lang="en-US" altLang="en-US" sz="1600" b="0" i="0" u="none" strike="noStrike" cap="none" normalizeH="0" baseline="0" dirty="0">
                <a:ln>
                  <a:noFill/>
                </a:ln>
                <a:solidFill>
                  <a:schemeClr val="tx1"/>
                </a:solidFill>
                <a:effectLst/>
                <a:latin typeface="Arial" panose="020B0604020202020204" pitchFamily="34" charset="0"/>
              </a:rPr>
              <a:t>: They measure signal strength at different body spots and create stats (</a:t>
            </a:r>
            <a:r>
              <a:rPr kumimoji="0" lang="en-US" altLang="en-US" sz="1600" b="0" i="0" u="none" strike="noStrike" cap="none" normalizeH="0" baseline="0" dirty="0" err="1">
                <a:ln>
                  <a:noFill/>
                </a:ln>
                <a:solidFill>
                  <a:schemeClr val="tx1"/>
                </a:solidFill>
                <a:effectLst/>
                <a:latin typeface="Arial" panose="020B0604020202020204" pitchFamily="34" charset="0"/>
              </a:rPr>
              <a:t>e.g</a:t>
            </a:r>
            <a:r>
              <a:rPr kumimoji="0" lang="en-US" altLang="en-US" sz="1600" b="0" i="0" u="none" strike="noStrike" cap="none" normalizeH="0" baseline="0" dirty="0">
                <a:ln>
                  <a:noFill/>
                </a:ln>
                <a:solidFill>
                  <a:schemeClr val="tx1"/>
                </a:solidFill>
                <a:effectLst/>
                <a:latin typeface="Arial" panose="020B0604020202020204" pitchFamily="34" charset="0"/>
              </a:rPr>
              <a:t> average loss, variations).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Accounts for differences in body size, age, or hydration.</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5) Body-Resonance Models</a:t>
            </a:r>
            <a:r>
              <a:rPr kumimoji="0" lang="en-US" altLang="en-US" sz="1600" b="0" i="0" u="none" strike="noStrike" cap="none" normalizeH="0" baseline="0" dirty="0">
                <a:ln>
                  <a:noFill/>
                </a:ln>
                <a:solidFill>
                  <a:schemeClr val="tx1"/>
                </a:solidFill>
                <a:effectLst/>
                <a:latin typeface="Arial" panose="020B0604020202020204" pitchFamily="34" charset="0"/>
              </a:rPr>
              <a:t>: A newer idea where the body acts like a resonant circuit (tuning to a specific frequency for better signal).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8C5CDBA7-4467-EEF5-6F11-817D05C87B75}"/>
              </a:ext>
            </a:extLst>
          </p:cNvPr>
          <p:cNvSpPr txBox="1"/>
          <p:nvPr/>
        </p:nvSpPr>
        <p:spPr>
          <a:xfrm>
            <a:off x="4334143" y="393291"/>
            <a:ext cx="3523721" cy="830997"/>
          </a:xfrm>
          <a:prstGeom prst="rect">
            <a:avLst/>
          </a:prstGeom>
          <a:noFill/>
        </p:spPr>
        <p:txBody>
          <a:bodyPr wrap="none" rtlCol="0">
            <a:spAutoFit/>
          </a:bodyPr>
          <a:lstStyle/>
          <a:p>
            <a:pPr algn="ctr"/>
            <a:r>
              <a:rPr lang="en-IN" sz="4800" dirty="0"/>
              <a:t>HBC MODELS</a:t>
            </a:r>
          </a:p>
        </p:txBody>
      </p:sp>
    </p:spTree>
    <p:extLst>
      <p:ext uri="{BB962C8B-B14F-4D97-AF65-F5344CB8AC3E}">
        <p14:creationId xmlns:p14="http://schemas.microsoft.com/office/powerpoint/2010/main" val="78192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5916</TotalTime>
  <Words>1739</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HUMAN BODY COMMUNICATION</vt:lpstr>
      <vt:lpstr>Characterization and Modeling of the Capacitive HBC Channel</vt:lpstr>
      <vt:lpstr>A Simulation Platform to Study the Human Body Communication Channel</vt:lpstr>
      <vt:lpstr>Channel Modeling of Miniaturized Battery-Powered Capacitive Human Body Communication Systems</vt:lpstr>
      <vt:lpstr>EM Simulation and Analysis on the Ground Electrode of Human Body Communication</vt:lpstr>
      <vt:lpstr>Wearable Health Monitoring Using Capacitive Voltage-Mode Human Body Communication</vt:lpstr>
      <vt:lpstr>An Empirical Channel Model for Human Body Communication</vt:lpstr>
      <vt:lpstr>A Five-Tissue-Layer Human Body Communication Circuit Model Tunable to Individual Characteristics</vt:lpstr>
      <vt:lpstr>Bio-Physical Modeling of Galvanic Human Body Communication in Electro-Quasistatic Regime</vt:lpstr>
      <vt:lpstr>1) Lumped Element Models: The body is modeled as a bunch of basic electrical parts connected in a chain—resistors for tissue resistance, capacitors for how charge builds up between layers, and sometimes inductors for magnetic effects. For example skin might be a high resistor, muscles a low one.   2) Bio-Physical or Layered Tissue Models: Divide the body into layers (five layers: skin, fat, muscle, cortex, bone). Each layer has its own electrical properties (conductivity, permittivity—how well it holds charge.  3) Electro-Quasistatic Models: These focus on low-frequency electric fields where magnetic effects are minimal. They're used for both galvanic and capacitive HBC, modeling the body as a transmission line.  4) Empirical or Statistical Models: They measure signal strength at different body spots and create stats (e.g average loss, variations).    Accounts for differences in body size, age, or hydration.   5) Body-Resonance Models: A newer idea where the body acts like a resonant circuit (tuning to a specific frequency for better signal).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Siddhant Deore</dc:creator>
  <cp:lastModifiedBy>Siddhant Deore</cp:lastModifiedBy>
  <cp:revision>80</cp:revision>
  <dcterms:created xsi:type="dcterms:W3CDTF">2025-08-15T04:17:41Z</dcterms:created>
  <dcterms:modified xsi:type="dcterms:W3CDTF">2025-08-20T05:02:24Z</dcterms:modified>
</cp:coreProperties>
</file>