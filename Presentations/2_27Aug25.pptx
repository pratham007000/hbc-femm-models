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12"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30"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Body Level One…"/>
          <p:cNvSpPr txBox="1">
            <a:spLocks noGrp="1"/>
          </p:cNvSpPr>
          <p:nvPr>
            <p:ph type="body" sz="half" idx="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48" name="Body Level One…"/>
          <p:cNvSpPr txBox="1">
            <a:spLocks noGrp="1"/>
          </p:cNvSpPr>
          <p:nvPr>
            <p:ph type="body" sz="quarter" idx="1"/>
          </p:nvPr>
        </p:nvSpPr>
        <p:spPr>
          <a:xfrm>
            <a:off x="839787" y="1681163"/>
            <a:ext cx="5157789" cy="823913"/>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6172200" y="1681163"/>
            <a:ext cx="5183188" cy="823913"/>
          </a:xfrm>
          <a:prstGeom prst="rect">
            <a:avLst/>
          </a:prstGeom>
        </p:spPr>
        <p:txBody>
          <a:bodyPr anchor="b"/>
          <a:lstStyle/>
          <a:p>
            <a:pPr marL="0" indent="0">
              <a:buSzTx/>
              <a:buFontTx/>
              <a:buNone/>
              <a:defRPr sz="2400" b="1"/>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73" name="Body Level One…"/>
          <p:cNvSpPr txBox="1">
            <a:spLocks noGrp="1"/>
          </p:cNvSpPr>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83"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84"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365125"/>
            <a:ext cx="10515600"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0" y="1825625"/>
            <a:ext cx="10515600" cy="4351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itle 1"/>
          <p:cNvSpPr txBox="1">
            <a:spLocks noGrp="1"/>
          </p:cNvSpPr>
          <p:nvPr>
            <p:ph type="title"/>
          </p:nvPr>
        </p:nvSpPr>
        <p:spPr>
          <a:xfrm>
            <a:off x="838200" y="158648"/>
            <a:ext cx="10515600" cy="923330"/>
          </a:xfrm>
          <a:prstGeom prst="rect">
            <a:avLst/>
          </a:prstGeom>
        </p:spPr>
        <p:txBody>
          <a:bodyPr>
            <a:noAutofit/>
          </a:bodyPr>
          <a:lstStyle/>
          <a:p>
            <a:pPr algn="ctr" defTabSz="749808">
              <a:defRPr sz="2050" u="sng"/>
            </a:pPr>
            <a:br>
              <a:rPr sz="2500" b="1" dirty="0"/>
            </a:br>
            <a:r>
              <a:rPr sz="2500" b="1" dirty="0"/>
              <a:t> 1. A Finite-Element Simulation of Galvanic Coupling Intra-Body Communication Based on the Whole Human Body </a:t>
            </a:r>
          </a:p>
        </p:txBody>
      </p:sp>
      <p:pic>
        <p:nvPicPr>
          <p:cNvPr id="95" name="Picture 3" descr="Picture 3"/>
          <p:cNvPicPr>
            <a:picLocks noChangeAspect="1"/>
          </p:cNvPicPr>
          <p:nvPr/>
        </p:nvPicPr>
        <p:blipFill>
          <a:blip r:embed="rId2"/>
          <a:stretch>
            <a:fillRect/>
          </a:stretch>
        </p:blipFill>
        <p:spPr>
          <a:xfrm>
            <a:off x="838200" y="2776279"/>
            <a:ext cx="5679429" cy="3834583"/>
          </a:xfrm>
          <a:prstGeom prst="rect">
            <a:avLst/>
          </a:prstGeom>
          <a:ln w="12700">
            <a:miter lim="400000"/>
          </a:ln>
        </p:spPr>
      </p:pic>
      <p:sp>
        <p:nvSpPr>
          <p:cNvPr id="96" name="TextBox 4"/>
          <p:cNvSpPr txBox="1"/>
          <p:nvPr/>
        </p:nvSpPr>
        <p:spPr>
          <a:xfrm>
            <a:off x="6635351" y="5177842"/>
            <a:ext cx="4814857" cy="9172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r>
              <a:rPr dirty="0">
                <a:highlight>
                  <a:srgbClr val="FFFF00"/>
                </a:highlight>
              </a:rPr>
              <a:t>They developed a 3D FE model of the whole human body by showing parts like the head, torso, arms, and legs into cylinders and cones.</a:t>
            </a:r>
          </a:p>
        </p:txBody>
      </p:sp>
      <p:pic>
        <p:nvPicPr>
          <p:cNvPr id="97" name="Picture 5" descr="Picture 5"/>
          <p:cNvPicPr>
            <a:picLocks noChangeAspect="1"/>
          </p:cNvPicPr>
          <p:nvPr/>
        </p:nvPicPr>
        <p:blipFill>
          <a:blip r:embed="rId3"/>
          <a:stretch>
            <a:fillRect/>
          </a:stretch>
        </p:blipFill>
        <p:spPr>
          <a:xfrm>
            <a:off x="7014881" y="1740307"/>
            <a:ext cx="4055798" cy="3037342"/>
          </a:xfrm>
          <a:prstGeom prst="rect">
            <a:avLst/>
          </a:prstGeom>
          <a:ln w="12700">
            <a:miter lim="400000"/>
          </a:ln>
        </p:spPr>
      </p:pic>
      <p:sp>
        <p:nvSpPr>
          <p:cNvPr id="98" name="TextBox 6"/>
          <p:cNvSpPr txBox="1"/>
          <p:nvPr/>
        </p:nvSpPr>
        <p:spPr>
          <a:xfrm>
            <a:off x="741790" y="1680156"/>
            <a:ext cx="6004561" cy="9172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r>
              <a:rPr dirty="0">
                <a:highlight>
                  <a:srgbClr val="FFFF00"/>
                </a:highlight>
              </a:rPr>
              <a:t>This paper shows a finite-element model of the entire human body to simulate galvanic coupling IBC. The simulation was performed in ANSYS software.</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itle 1"/>
          <p:cNvSpPr txBox="1">
            <a:spLocks noGrp="1"/>
          </p:cNvSpPr>
          <p:nvPr>
            <p:ph type="title"/>
          </p:nvPr>
        </p:nvSpPr>
        <p:spPr>
          <a:xfrm>
            <a:off x="838200" y="148816"/>
            <a:ext cx="10515600" cy="1021222"/>
          </a:xfrm>
          <a:prstGeom prst="rect">
            <a:avLst/>
          </a:prstGeom>
        </p:spPr>
        <p:txBody>
          <a:bodyPr>
            <a:noAutofit/>
          </a:bodyPr>
          <a:lstStyle/>
          <a:p>
            <a:pPr algn="ctr" defTabSz="795527">
              <a:defRPr sz="2175" u="sng"/>
            </a:pPr>
            <a:br>
              <a:rPr sz="2500" b="1" dirty="0"/>
            </a:br>
            <a:r>
              <a:rPr sz="2500" b="1" dirty="0"/>
              <a:t>1. A Finite-Element Simulation of Galvanic Coupling Intra-Body Communication Based on the Whole Human Body </a:t>
            </a:r>
          </a:p>
        </p:txBody>
      </p:sp>
      <p:sp>
        <p:nvSpPr>
          <p:cNvPr id="101" name="TextBox 4"/>
          <p:cNvSpPr txBox="1"/>
          <p:nvPr/>
        </p:nvSpPr>
        <p:spPr>
          <a:xfrm>
            <a:off x="714315" y="1605086"/>
            <a:ext cx="4946120" cy="45243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r>
              <a:rPr dirty="0">
                <a:highlight>
                  <a:srgbClr val="FFFF00"/>
                </a:highlight>
              </a:rPr>
              <a:t>Some measurements included in the paper are:</a:t>
            </a:r>
          </a:p>
          <a:p>
            <a:endParaRPr dirty="0"/>
          </a:p>
          <a:p>
            <a:r>
              <a:rPr dirty="0"/>
              <a:t>The torso of the developed model was abstracted as an elliptic cylinder, which has a long-axis length of 265 mm, a short-axis length of 195 mm and a height of 590 mm.</a:t>
            </a:r>
          </a:p>
          <a:p>
            <a:endParaRPr dirty="0"/>
          </a:p>
          <a:p>
            <a:r>
              <a:rPr dirty="0"/>
              <a:t>The elliptic cylinder was also modeled by four layers (skin, fat, muscle and bone), while the thickness of these layers were set as 1.7 mm (skin), 22 mm (fat) and 27 mm (muscle). </a:t>
            </a:r>
          </a:p>
          <a:p>
            <a:endParaRPr dirty="0"/>
          </a:p>
          <a:p>
            <a:r>
              <a:rPr dirty="0"/>
              <a:t>Upper arms were modeled by the cylinders with a length of 32 mm, while the lower arms were modeled by the cones with a length of 26 mm. </a:t>
            </a:r>
          </a:p>
          <a:p>
            <a:endParaRPr dirty="0"/>
          </a:p>
        </p:txBody>
      </p:sp>
      <p:pic>
        <p:nvPicPr>
          <p:cNvPr id="102" name="Picture 7" descr="Picture 7"/>
          <p:cNvPicPr>
            <a:picLocks noChangeAspect="1"/>
          </p:cNvPicPr>
          <p:nvPr/>
        </p:nvPicPr>
        <p:blipFill>
          <a:blip r:embed="rId2"/>
          <a:stretch>
            <a:fillRect/>
          </a:stretch>
        </p:blipFill>
        <p:spPr>
          <a:xfrm>
            <a:off x="6485845" y="1605086"/>
            <a:ext cx="4867955" cy="4486901"/>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Title 1"/>
          <p:cNvSpPr txBox="1">
            <a:spLocks noGrp="1"/>
          </p:cNvSpPr>
          <p:nvPr>
            <p:ph type="title"/>
          </p:nvPr>
        </p:nvSpPr>
        <p:spPr>
          <a:xfrm>
            <a:off x="838200" y="148816"/>
            <a:ext cx="10515600" cy="1021222"/>
          </a:xfrm>
          <a:prstGeom prst="rect">
            <a:avLst/>
          </a:prstGeom>
        </p:spPr>
        <p:txBody>
          <a:bodyPr>
            <a:noAutofit/>
          </a:bodyPr>
          <a:lstStyle/>
          <a:p>
            <a:pPr algn="ctr" defTabSz="795527">
              <a:defRPr sz="2175" u="sng"/>
            </a:pPr>
            <a:br>
              <a:rPr sz="2500" b="1" dirty="0"/>
            </a:br>
            <a:r>
              <a:rPr sz="2500" b="1" dirty="0"/>
              <a:t>1. A Finite-Element Simulation of Galvanic Coupling Intra-Body Communication Based on the Whole Human Body </a:t>
            </a:r>
          </a:p>
        </p:txBody>
      </p:sp>
      <p:sp>
        <p:nvSpPr>
          <p:cNvPr id="105" name="TextBox 4"/>
          <p:cNvSpPr txBox="1"/>
          <p:nvPr/>
        </p:nvSpPr>
        <p:spPr>
          <a:xfrm>
            <a:off x="760036" y="1849136"/>
            <a:ext cx="4946120" cy="20313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r>
              <a:rPr dirty="0">
                <a:highlight>
                  <a:srgbClr val="FFFF00"/>
                </a:highlight>
              </a:rPr>
              <a:t>Important observations/results:</a:t>
            </a:r>
            <a:br>
              <a:rPr dirty="0">
                <a:highlight>
                  <a:srgbClr val="FFFF00"/>
                </a:highlight>
              </a:rPr>
            </a:br>
            <a:r>
              <a:rPr dirty="0">
                <a:highlight>
                  <a:srgbClr val="FFFF00"/>
                </a:highlight>
              </a:rPr>
              <a:t>1. The highest electrical potentials during signal transmission are concentrated around the transmitting electrode and decrease as the distance increases. These higher potentials are primarily located in the surface layers of the body, specifically the skin and fat.</a:t>
            </a:r>
          </a:p>
        </p:txBody>
      </p:sp>
      <p:pic>
        <p:nvPicPr>
          <p:cNvPr id="106" name="Picture 7" descr="Picture 7"/>
          <p:cNvPicPr>
            <a:picLocks noChangeAspect="1"/>
          </p:cNvPicPr>
          <p:nvPr/>
        </p:nvPicPr>
        <p:blipFill>
          <a:blip r:embed="rId2"/>
          <a:stretch>
            <a:fillRect/>
          </a:stretch>
        </p:blipFill>
        <p:spPr>
          <a:xfrm>
            <a:off x="6485845" y="1605086"/>
            <a:ext cx="4867955" cy="4486901"/>
          </a:xfrm>
          <a:prstGeom prst="rect">
            <a:avLst/>
          </a:prstGeom>
          <a:ln w="12700">
            <a:miter lim="400000"/>
          </a:ln>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itle 1"/>
          <p:cNvSpPr txBox="1">
            <a:spLocks noGrp="1"/>
          </p:cNvSpPr>
          <p:nvPr>
            <p:ph type="title"/>
          </p:nvPr>
        </p:nvSpPr>
        <p:spPr>
          <a:xfrm>
            <a:off x="838200" y="148816"/>
            <a:ext cx="10515600" cy="1021222"/>
          </a:xfrm>
          <a:prstGeom prst="rect">
            <a:avLst/>
          </a:prstGeom>
        </p:spPr>
        <p:txBody>
          <a:bodyPr>
            <a:noAutofit/>
          </a:bodyPr>
          <a:lstStyle/>
          <a:p>
            <a:pPr algn="ctr" defTabSz="795527">
              <a:defRPr sz="2175" u="sng"/>
            </a:pPr>
            <a:br>
              <a:rPr sz="2500" b="1" dirty="0"/>
            </a:br>
            <a:r>
              <a:rPr sz="2500" b="1" dirty="0"/>
              <a:t>1. A Finite-Element Simulation of Galvanic Coupling Intra-Body Communication Based on the Whole Human Body </a:t>
            </a:r>
          </a:p>
        </p:txBody>
      </p:sp>
      <p:pic>
        <p:nvPicPr>
          <p:cNvPr id="109" name="Picture 3" descr="Picture 3"/>
          <p:cNvPicPr>
            <a:picLocks noChangeAspect="1"/>
          </p:cNvPicPr>
          <p:nvPr/>
        </p:nvPicPr>
        <p:blipFill>
          <a:blip r:embed="rId2"/>
          <a:stretch>
            <a:fillRect/>
          </a:stretch>
        </p:blipFill>
        <p:spPr>
          <a:xfrm>
            <a:off x="838200" y="2036629"/>
            <a:ext cx="5151421" cy="3774237"/>
          </a:xfrm>
          <a:prstGeom prst="rect">
            <a:avLst/>
          </a:prstGeom>
          <a:ln w="12700">
            <a:miter lim="400000"/>
          </a:ln>
        </p:spPr>
      </p:pic>
      <p:pic>
        <p:nvPicPr>
          <p:cNvPr id="110" name="Picture 6" descr="Picture 6"/>
          <p:cNvPicPr>
            <a:picLocks noChangeAspect="1"/>
          </p:cNvPicPr>
          <p:nvPr/>
        </p:nvPicPr>
        <p:blipFill>
          <a:blip r:embed="rId3"/>
          <a:stretch>
            <a:fillRect/>
          </a:stretch>
        </p:blipFill>
        <p:spPr>
          <a:xfrm>
            <a:off x="6476748" y="2036628"/>
            <a:ext cx="4877052" cy="3774237"/>
          </a:xfrm>
          <a:prstGeom prst="rect">
            <a:avLst/>
          </a:prstGeom>
          <a:ln w="12700">
            <a:miter lim="400000"/>
          </a:ln>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Title 1"/>
          <p:cNvSpPr txBox="1">
            <a:spLocks noGrp="1"/>
          </p:cNvSpPr>
          <p:nvPr>
            <p:ph type="title"/>
          </p:nvPr>
        </p:nvSpPr>
        <p:spPr>
          <a:xfrm>
            <a:off x="838200" y="148816"/>
            <a:ext cx="10515600" cy="1021222"/>
          </a:xfrm>
          <a:prstGeom prst="rect">
            <a:avLst/>
          </a:prstGeom>
        </p:spPr>
        <p:txBody>
          <a:bodyPr>
            <a:noAutofit/>
          </a:bodyPr>
          <a:lstStyle/>
          <a:p>
            <a:pPr algn="ctr" defTabSz="795527">
              <a:defRPr sz="2175" u="sng"/>
            </a:pPr>
            <a:br>
              <a:rPr sz="2500" b="1" dirty="0"/>
            </a:br>
            <a:r>
              <a:rPr sz="2500" b="1" dirty="0"/>
              <a:t>2. Understanding the Return Path Capacitance</a:t>
            </a:r>
            <a:br>
              <a:rPr sz="2500" b="1" dirty="0"/>
            </a:br>
            <a:r>
              <a:rPr sz="2500" b="1" dirty="0"/>
              <a:t>in Capacitive Human Body Communication</a:t>
            </a:r>
          </a:p>
        </p:txBody>
      </p:sp>
      <p:pic>
        <p:nvPicPr>
          <p:cNvPr id="113" name="Picture 4" descr="Picture 4"/>
          <p:cNvPicPr>
            <a:picLocks noChangeAspect="1"/>
          </p:cNvPicPr>
          <p:nvPr/>
        </p:nvPicPr>
        <p:blipFill>
          <a:blip r:embed="rId2"/>
          <a:stretch>
            <a:fillRect/>
          </a:stretch>
        </p:blipFill>
        <p:spPr>
          <a:xfrm>
            <a:off x="1189938" y="2664542"/>
            <a:ext cx="9812120" cy="3391373"/>
          </a:xfrm>
          <a:prstGeom prst="rect">
            <a:avLst/>
          </a:prstGeom>
          <a:ln w="12700">
            <a:miter lim="400000"/>
          </a:ln>
        </p:spPr>
      </p:pic>
      <p:sp>
        <p:nvSpPr>
          <p:cNvPr id="114" name="TextBox 7"/>
          <p:cNvSpPr txBox="1"/>
          <p:nvPr/>
        </p:nvSpPr>
        <p:spPr>
          <a:xfrm>
            <a:off x="1235659" y="1524451"/>
            <a:ext cx="9720679" cy="6463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r>
              <a:rPr dirty="0">
                <a:highlight>
                  <a:srgbClr val="FFFF00"/>
                </a:highlight>
              </a:rPr>
              <a:t>This paper analyzes the return path capacitance (CG​), a critical factor in Capacitive Human Body Communication (HBC) that influences channel performance.</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Title 1"/>
          <p:cNvSpPr txBox="1">
            <a:spLocks noGrp="1"/>
          </p:cNvSpPr>
          <p:nvPr>
            <p:ph type="title"/>
          </p:nvPr>
        </p:nvSpPr>
        <p:spPr>
          <a:xfrm>
            <a:off x="838200" y="148816"/>
            <a:ext cx="10515600" cy="1021222"/>
          </a:xfrm>
          <a:prstGeom prst="rect">
            <a:avLst/>
          </a:prstGeom>
        </p:spPr>
        <p:txBody>
          <a:bodyPr/>
          <a:lstStyle/>
          <a:p>
            <a:pPr algn="ctr" defTabSz="868680">
              <a:defRPr sz="2375" u="sng"/>
            </a:pPr>
            <a:br>
              <a:rPr b="1" dirty="0"/>
            </a:br>
            <a:r>
              <a:rPr lang="en-IN" b="1" dirty="0"/>
              <a:t>3</a:t>
            </a:r>
            <a:r>
              <a:rPr b="1" dirty="0"/>
              <a:t>. Electric field intra-body communication in human body using wearable transceiver</a:t>
            </a:r>
          </a:p>
        </p:txBody>
      </p:sp>
      <p:sp>
        <p:nvSpPr>
          <p:cNvPr id="121" name="TextBox 3"/>
          <p:cNvSpPr txBox="1"/>
          <p:nvPr/>
        </p:nvSpPr>
        <p:spPr>
          <a:xfrm>
            <a:off x="883919" y="1861797"/>
            <a:ext cx="10424161" cy="23777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r>
              <a:rPr dirty="0">
                <a:highlight>
                  <a:srgbClr val="FFFF00"/>
                </a:highlight>
              </a:rPr>
              <a:t>Using a wearable transceiver in a real-life human setting was the main goal of this study to show that electric field intrabody communication can be used in real life.</a:t>
            </a:r>
          </a:p>
          <a:p>
            <a:endParaRPr dirty="0"/>
          </a:p>
          <a:p>
            <a:r>
              <a:rPr dirty="0"/>
              <a:t>Methods: A small, wearable transceiver was made, and tests were done on humans to measure the strength of the received signal in different body parts.</a:t>
            </a:r>
          </a:p>
          <a:p>
            <a:endParaRPr dirty="0"/>
          </a:p>
          <a:p>
            <a:r>
              <a:rPr dirty="0"/>
              <a:t>The results showed that a stable electric field signal could pass through the body and be picked up by a wearable device. This proved that body-worn communication systems could work in real life.</a:t>
            </a:r>
          </a:p>
        </p:txBody>
      </p:sp>
      <p:sp>
        <p:nvSpPr>
          <p:cNvPr id="122" name="TextBox 4"/>
          <p:cNvSpPr txBox="1"/>
          <p:nvPr/>
        </p:nvSpPr>
        <p:spPr>
          <a:xfrm>
            <a:off x="883920" y="5535164"/>
            <a:ext cx="10424160" cy="629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200"/>
            </a:pPr>
            <a:r>
              <a:t>Reference:</a:t>
            </a:r>
          </a:p>
          <a:p>
            <a:pPr>
              <a:defRPr sz="1200"/>
            </a:pPr>
            <a:r>
              <a:t>K. Fujii, M. Takahashi, and K. Ito, “Electric field intra-body communication in human body using wearable transceiver,” </a:t>
            </a:r>
            <a:r>
              <a:rPr i="1"/>
              <a:t>IEEE Transactions on Antennas and Propagation</a:t>
            </a:r>
            <a:r>
              <a:t>, vol. 55, no. 7, pp. 2080–2087, 2007.</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Title 1"/>
          <p:cNvSpPr txBox="1">
            <a:spLocks noGrp="1"/>
          </p:cNvSpPr>
          <p:nvPr>
            <p:ph type="title"/>
          </p:nvPr>
        </p:nvSpPr>
        <p:spPr>
          <a:xfrm>
            <a:off x="838200" y="148816"/>
            <a:ext cx="10515600" cy="1021222"/>
          </a:xfrm>
          <a:prstGeom prst="rect">
            <a:avLst/>
          </a:prstGeom>
        </p:spPr>
        <p:txBody>
          <a:bodyPr/>
          <a:lstStyle>
            <a:lvl1pPr algn="ctr">
              <a:defRPr sz="2500" u="sng"/>
            </a:lvl1pPr>
          </a:lstStyle>
          <a:p>
            <a:r>
              <a:rPr lang="en-IN" b="1" dirty="0"/>
              <a:t>4</a:t>
            </a:r>
            <a:r>
              <a:rPr b="1" dirty="0"/>
              <a:t>. Electric field intrabody communication modeling with finite-element method</a:t>
            </a:r>
          </a:p>
        </p:txBody>
      </p:sp>
      <p:sp>
        <p:nvSpPr>
          <p:cNvPr id="125" name="TextBox 3"/>
          <p:cNvSpPr txBox="1"/>
          <p:nvPr/>
        </p:nvSpPr>
        <p:spPr>
          <a:xfrm>
            <a:off x="883919" y="1861797"/>
            <a:ext cx="10424161" cy="32540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r>
              <a:rPr dirty="0">
                <a:highlight>
                  <a:srgbClr val="FFFF00"/>
                </a:highlight>
              </a:rPr>
              <a:t>The goal of this paper was to use the Finite-Element Method (FEM), which works especially well with complex biological geometries, to create a strong and accurate numerical model for electric field intrabody communication.</a:t>
            </a:r>
          </a:p>
          <a:p>
            <a:endParaRPr dirty="0"/>
          </a:p>
          <a:p>
            <a:r>
              <a:rPr dirty="0"/>
              <a:t>Model Development: A detailed 3D model of the human body was made, including different types of tissue and the electrical properties (conductivity and permittivity) that go with them. This model made it possible to simulate the electric field distribution inside the body more accurately.</a:t>
            </a:r>
          </a:p>
          <a:p>
            <a:endParaRPr dirty="0"/>
          </a:p>
          <a:p>
            <a:r>
              <a:rPr dirty="0"/>
              <a:t>The FEM model that was made was an important analytical tool that helped researchers predict and understand how signals travel, how path loss works, and how different body tissues affect the communication channel without having to do a lot of physical testing.</a:t>
            </a:r>
          </a:p>
        </p:txBody>
      </p:sp>
      <p:sp>
        <p:nvSpPr>
          <p:cNvPr id="126" name="TextBox 2"/>
          <p:cNvSpPr txBox="1"/>
          <p:nvPr/>
        </p:nvSpPr>
        <p:spPr>
          <a:xfrm>
            <a:off x="883920" y="5535164"/>
            <a:ext cx="10424160" cy="629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200"/>
            </a:pPr>
            <a:r>
              <a:t>Reference:</a:t>
            </a:r>
          </a:p>
          <a:p>
            <a:pPr>
              <a:defRPr sz="1200"/>
            </a:pPr>
            <a:r>
              <a:t>R. Xu, H. Zhu, and J. Yuan, “Electric field intrabody communication modeling with finite-element method,” </a:t>
            </a:r>
            <a:r>
              <a:rPr i="1"/>
              <a:t>IEEE Transactions on Biomedical Engineering</a:t>
            </a:r>
            <a:r>
              <a:t>, vol. 58, no. 3, pp. 705–712, 2010.</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 name="Screenshot 2025-08-29 at 11.40.37 AM.png" descr="Screenshot 2025-08-29 at 11.40.37 AM.png"/>
          <p:cNvPicPr>
            <a:picLocks noChangeAspect="1"/>
          </p:cNvPicPr>
          <p:nvPr/>
        </p:nvPicPr>
        <p:blipFill>
          <a:blip r:embed="rId2"/>
          <a:stretch>
            <a:fillRect/>
          </a:stretch>
        </p:blipFill>
        <p:spPr>
          <a:xfrm>
            <a:off x="894592" y="1434297"/>
            <a:ext cx="10402815" cy="4671535"/>
          </a:xfrm>
          <a:prstGeom prst="rect">
            <a:avLst/>
          </a:prstGeom>
          <a:ln w="12700">
            <a:miter lim="400000"/>
          </a:ln>
        </p:spPr>
      </p:pic>
      <p:sp>
        <p:nvSpPr>
          <p:cNvPr id="2" name="Title 1">
            <a:extLst>
              <a:ext uri="{FF2B5EF4-FFF2-40B4-BE49-F238E27FC236}">
                <a16:creationId xmlns:a16="http://schemas.microsoft.com/office/drawing/2014/main" id="{7E93A756-426D-8376-AC9C-E99918492763}"/>
              </a:ext>
            </a:extLst>
          </p:cNvPr>
          <p:cNvSpPr txBox="1">
            <a:spLocks/>
          </p:cNvSpPr>
          <p:nvPr/>
        </p:nvSpPr>
        <p:spPr>
          <a:xfrm>
            <a:off x="838199" y="339878"/>
            <a:ext cx="10515600" cy="1021222"/>
          </a:xfrm>
          <a:prstGeom prst="rect">
            <a:avLst/>
          </a:prstGeom>
        </p:spPr>
        <p:txBody>
          <a:bodyPr/>
          <a:lstStyle>
            <a:lvl1pPr marL="0" marR="0" indent="0" algn="ctr" defTabSz="914400" rtl="0" latinLnBrk="0">
              <a:lnSpc>
                <a:spcPct val="90000"/>
              </a:lnSpc>
              <a:spcBef>
                <a:spcPts val="0"/>
              </a:spcBef>
              <a:spcAft>
                <a:spcPts val="0"/>
              </a:spcAft>
              <a:buClrTx/>
              <a:buSzTx/>
              <a:buFontTx/>
              <a:buNone/>
              <a:tabLst/>
              <a:defRPr sz="2500" b="0" i="0" u="sng"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a:lstStyle>
          <a:p>
            <a:pPr hangingPunct="1"/>
            <a:r>
              <a:rPr lang="en-US" b="1" dirty="0"/>
              <a:t>5. Electric field intrabody communication modeling with finite-element method</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 name="Screenshot 2025-08-29 at 11.41.54 AM.png" descr="Screenshot 2025-08-29 at 11.41.54 AM.png"/>
          <p:cNvPicPr>
            <a:picLocks noChangeAspect="1"/>
          </p:cNvPicPr>
          <p:nvPr/>
        </p:nvPicPr>
        <p:blipFill>
          <a:blip r:embed="rId2"/>
          <a:stretch>
            <a:fillRect/>
          </a:stretch>
        </p:blipFill>
        <p:spPr>
          <a:xfrm>
            <a:off x="1043135" y="1415538"/>
            <a:ext cx="10105730" cy="4912940"/>
          </a:xfrm>
          <a:prstGeom prst="rect">
            <a:avLst/>
          </a:prstGeom>
          <a:ln w="12700">
            <a:miter lim="400000"/>
          </a:ln>
        </p:spPr>
      </p:pic>
      <p:sp>
        <p:nvSpPr>
          <p:cNvPr id="2" name="Title 1">
            <a:extLst>
              <a:ext uri="{FF2B5EF4-FFF2-40B4-BE49-F238E27FC236}">
                <a16:creationId xmlns:a16="http://schemas.microsoft.com/office/drawing/2014/main" id="{CE1EB3C9-0A33-D369-B9A5-450FC8F0FB6E}"/>
              </a:ext>
            </a:extLst>
          </p:cNvPr>
          <p:cNvSpPr txBox="1">
            <a:spLocks/>
          </p:cNvSpPr>
          <p:nvPr/>
        </p:nvSpPr>
        <p:spPr>
          <a:xfrm>
            <a:off x="838200" y="320214"/>
            <a:ext cx="10515600" cy="1021222"/>
          </a:xfrm>
          <a:prstGeom prst="rect">
            <a:avLst/>
          </a:prstGeom>
        </p:spPr>
        <p:txBody>
          <a:bodyPr/>
          <a:lstStyle>
            <a:lvl1pPr marL="0" marR="0" indent="0" algn="ctr" defTabSz="914400" rtl="0" latinLnBrk="0">
              <a:lnSpc>
                <a:spcPct val="90000"/>
              </a:lnSpc>
              <a:spcBef>
                <a:spcPts val="0"/>
              </a:spcBef>
              <a:spcAft>
                <a:spcPts val="0"/>
              </a:spcAft>
              <a:buClrTx/>
              <a:buSzTx/>
              <a:buFontTx/>
              <a:buNone/>
              <a:tabLst/>
              <a:defRPr sz="2500" b="0" i="0" u="sng"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a:lstStyle>
          <a:p>
            <a:pPr hangingPunct="1"/>
            <a:r>
              <a:rPr lang="en-US" b="1" dirty="0"/>
              <a:t>5. Electric field intrabody communication modeling with finite-element method</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Title 1"/>
          <p:cNvSpPr txBox="1">
            <a:spLocks noGrp="1"/>
          </p:cNvSpPr>
          <p:nvPr>
            <p:ph type="title"/>
          </p:nvPr>
        </p:nvSpPr>
        <p:spPr>
          <a:xfrm>
            <a:off x="838199" y="338836"/>
            <a:ext cx="10515600" cy="1021222"/>
          </a:xfrm>
          <a:prstGeom prst="rect">
            <a:avLst/>
          </a:prstGeom>
        </p:spPr>
        <p:txBody>
          <a:bodyPr/>
          <a:lstStyle>
            <a:lvl1pPr algn="ctr">
              <a:defRPr sz="2500" u="sng"/>
            </a:lvl1pPr>
          </a:lstStyle>
          <a:p>
            <a:r>
              <a:rPr b="1" dirty="0"/>
              <a:t>6. Characterization of human body forward path loss and variability effects in voltage-mode HBC</a:t>
            </a:r>
          </a:p>
        </p:txBody>
      </p:sp>
      <p:sp>
        <p:nvSpPr>
          <p:cNvPr id="133" name="TextBox 3"/>
          <p:cNvSpPr txBox="1"/>
          <p:nvPr/>
        </p:nvSpPr>
        <p:spPr>
          <a:xfrm>
            <a:off x="883919" y="1861797"/>
            <a:ext cx="10424161" cy="2669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r>
              <a:t>What is being looked into: The main goal of the study was to fully describe the forward path loss and the variability effects that are built into a voltage-mode HBC system. The signal moves through the body from the sender to the receiver. This is called the "forward path.“</a:t>
            </a:r>
          </a:p>
          <a:p>
            <a:endParaRPr/>
          </a:p>
          <a:p>
            <a:r>
              <a:t>Measurement: Experiments were done to find out how much the signal was weakened depending on how far apart the sending and receiving electrodes were on a person's body.</a:t>
            </a:r>
          </a:p>
          <a:p>
            <a:endParaRPr/>
          </a:p>
          <a:p>
            <a:r>
              <a:t>Variability Analysis: The study carefully looked at how changing things like body position, movement, and where the electrodes are placed can have a big effect on how stable and reliable the communication channel is.</a:t>
            </a:r>
          </a:p>
        </p:txBody>
      </p:sp>
      <p:sp>
        <p:nvSpPr>
          <p:cNvPr id="134" name="TextBox 2"/>
          <p:cNvSpPr txBox="1"/>
          <p:nvPr/>
        </p:nvSpPr>
        <p:spPr>
          <a:xfrm>
            <a:off x="883920" y="5535164"/>
            <a:ext cx="10424160" cy="629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200"/>
            </a:pPr>
            <a:r>
              <a:t>Reference:</a:t>
            </a:r>
          </a:p>
          <a:p>
            <a:pPr>
              <a:defRPr sz="1200"/>
            </a:pPr>
            <a:r>
              <a:t>S. Maity, K. Moghe, and S. Sen, “Characterization of human body forward path loss and variability effects in voltage-mode HBC,” </a:t>
            </a:r>
            <a:r>
              <a:rPr i="1"/>
              <a:t>IEEE Microwave and Wireless Components Letters</a:t>
            </a:r>
            <a:r>
              <a:t>, vol. 28, no. 3, pp. 266–268, 2018.</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 name="Screenshot 2025-08-29 at 11.53.34 AM.png" descr="Screenshot 2025-08-29 at 11.53.34 AM.png"/>
          <p:cNvPicPr>
            <a:picLocks noChangeAspect="1"/>
          </p:cNvPicPr>
          <p:nvPr/>
        </p:nvPicPr>
        <p:blipFill>
          <a:blip r:embed="rId2"/>
          <a:srcRect b="1925"/>
          <a:stretch>
            <a:fillRect/>
          </a:stretch>
        </p:blipFill>
        <p:spPr>
          <a:xfrm>
            <a:off x="2011271" y="1497490"/>
            <a:ext cx="8169456" cy="4863981"/>
          </a:xfrm>
          <a:prstGeom prst="rect">
            <a:avLst/>
          </a:prstGeom>
          <a:ln w="12700">
            <a:miter lim="400000"/>
          </a:ln>
        </p:spPr>
      </p:pic>
      <p:sp>
        <p:nvSpPr>
          <p:cNvPr id="2" name="Title 1">
            <a:extLst>
              <a:ext uri="{FF2B5EF4-FFF2-40B4-BE49-F238E27FC236}">
                <a16:creationId xmlns:a16="http://schemas.microsoft.com/office/drawing/2014/main" id="{5EB4E563-72A6-5A8B-0DE1-EFC01E8FD30B}"/>
              </a:ext>
            </a:extLst>
          </p:cNvPr>
          <p:cNvSpPr txBox="1">
            <a:spLocks/>
          </p:cNvSpPr>
          <p:nvPr/>
        </p:nvSpPr>
        <p:spPr>
          <a:xfrm>
            <a:off x="838199" y="338836"/>
            <a:ext cx="10515600" cy="1021222"/>
          </a:xfrm>
          <a:prstGeom prst="rect">
            <a:avLst/>
          </a:prstGeom>
        </p:spPr>
        <p:txBody>
          <a:bodyPr/>
          <a:lstStyle>
            <a:lvl1pPr marL="0" marR="0" indent="0" algn="ctr" defTabSz="914400" rtl="0" latinLnBrk="0">
              <a:lnSpc>
                <a:spcPct val="90000"/>
              </a:lnSpc>
              <a:spcBef>
                <a:spcPts val="0"/>
              </a:spcBef>
              <a:spcAft>
                <a:spcPts val="0"/>
              </a:spcAft>
              <a:buClrTx/>
              <a:buSzTx/>
              <a:buFontTx/>
              <a:buNone/>
              <a:tabLst/>
              <a:defRPr sz="2500" b="0" i="0" u="sng"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a:lstStyle>
          <a:p>
            <a:pPr hangingPunct="1"/>
            <a:r>
              <a:rPr lang="en-US" b="1" dirty="0"/>
              <a:t>6. Characterization of human body forward path loss and variability effects in voltage-mode HBC</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Title 1"/>
          <p:cNvSpPr txBox="1">
            <a:spLocks noGrp="1"/>
          </p:cNvSpPr>
          <p:nvPr>
            <p:ph type="title"/>
          </p:nvPr>
        </p:nvSpPr>
        <p:spPr>
          <a:xfrm>
            <a:off x="838199" y="182920"/>
            <a:ext cx="10515600" cy="1021222"/>
          </a:xfrm>
          <a:prstGeom prst="rect">
            <a:avLst/>
          </a:prstGeom>
        </p:spPr>
        <p:txBody>
          <a:bodyPr/>
          <a:lstStyle>
            <a:lvl1pPr algn="ctr">
              <a:defRPr sz="2500" u="sng"/>
            </a:lvl1pPr>
          </a:lstStyle>
          <a:p>
            <a:r>
              <a:rPr b="1" dirty="0"/>
              <a:t>7. Toward understanding the return path capacitance in capacitive human body communication</a:t>
            </a:r>
          </a:p>
        </p:txBody>
      </p:sp>
      <p:sp>
        <p:nvSpPr>
          <p:cNvPr id="139" name="TextBox 3"/>
          <p:cNvSpPr txBox="1"/>
          <p:nvPr/>
        </p:nvSpPr>
        <p:spPr>
          <a:xfrm>
            <a:off x="883919" y="1861797"/>
            <a:ext cx="10424161" cy="26698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r>
              <a:t>This study looked at the return path capacitance from a different angle, which is an important but often overlooked part of the capacitive HBC communication circuit.</a:t>
            </a:r>
          </a:p>
          <a:p>
            <a:endParaRPr/>
          </a:p>
          <a:p>
            <a:r>
              <a:t>Key Findings: The research showed that the capacitance between the body and its surroundings is a key factor in determining how well the system works and how well the signals are sent.</a:t>
            </a:r>
          </a:p>
          <a:p>
            <a:endParaRPr/>
          </a:p>
          <a:p>
            <a:r>
              <a:t>In conclusion, this study helped us understand the capacitive HBC channel better by showing that both the forward and return paths are equally important. This made it easier to make more accurate system models and designs.</a:t>
            </a:r>
          </a:p>
        </p:txBody>
      </p:sp>
      <p:sp>
        <p:nvSpPr>
          <p:cNvPr id="140" name="TextBox 2"/>
          <p:cNvSpPr txBox="1"/>
          <p:nvPr/>
        </p:nvSpPr>
        <p:spPr>
          <a:xfrm>
            <a:off x="883920" y="5535164"/>
            <a:ext cx="10424160" cy="629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200"/>
            </a:pPr>
            <a:r>
              <a:t>Reference:</a:t>
            </a:r>
          </a:p>
          <a:p>
            <a:pPr>
              <a:defRPr sz="1200"/>
            </a:pPr>
            <a:r>
              <a:t>M. N. Nath, S. Maity, and S. Sen, “Toward understanding the return path capacitance in capacitive human body communication,” </a:t>
            </a:r>
            <a:r>
              <a:rPr i="1"/>
              <a:t>IEEE Transactions on Circuits and Systems II: Express Briefs</a:t>
            </a:r>
            <a:r>
              <a:t>, vol. 66, no. 12, pp. 1878–1882, 2019.</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2" name="Screenshot 2025-08-29 at 11.50.34 AM.png" descr="Screenshot 2025-08-29 at 11.50.34 AM.png"/>
          <p:cNvPicPr>
            <a:picLocks noChangeAspect="1"/>
          </p:cNvPicPr>
          <p:nvPr/>
        </p:nvPicPr>
        <p:blipFill>
          <a:blip r:embed="rId2"/>
          <a:stretch>
            <a:fillRect/>
          </a:stretch>
        </p:blipFill>
        <p:spPr>
          <a:xfrm>
            <a:off x="831237" y="1807330"/>
            <a:ext cx="10529525" cy="3895379"/>
          </a:xfrm>
          <a:prstGeom prst="rect">
            <a:avLst/>
          </a:prstGeom>
          <a:ln w="12700">
            <a:miter lim="400000"/>
          </a:ln>
        </p:spPr>
      </p:pic>
      <p:sp>
        <p:nvSpPr>
          <p:cNvPr id="2" name="Title 1">
            <a:extLst>
              <a:ext uri="{FF2B5EF4-FFF2-40B4-BE49-F238E27FC236}">
                <a16:creationId xmlns:a16="http://schemas.microsoft.com/office/drawing/2014/main" id="{EF3BFEE9-8305-E772-55A5-0BFA7E38DD18}"/>
              </a:ext>
            </a:extLst>
          </p:cNvPr>
          <p:cNvSpPr txBox="1">
            <a:spLocks/>
          </p:cNvSpPr>
          <p:nvPr/>
        </p:nvSpPr>
        <p:spPr>
          <a:xfrm>
            <a:off x="838199" y="296300"/>
            <a:ext cx="10515600" cy="1021222"/>
          </a:xfrm>
          <a:prstGeom prst="rect">
            <a:avLst/>
          </a:prstGeom>
        </p:spPr>
        <p:txBody>
          <a:bodyPr/>
          <a:lstStyle>
            <a:lvl1pPr marL="0" marR="0" indent="0" algn="ctr" defTabSz="914400" rtl="0" latinLnBrk="0">
              <a:lnSpc>
                <a:spcPct val="90000"/>
              </a:lnSpc>
              <a:spcBef>
                <a:spcPts val="0"/>
              </a:spcBef>
              <a:spcAft>
                <a:spcPts val="0"/>
              </a:spcAft>
              <a:buClrTx/>
              <a:buSzTx/>
              <a:buFontTx/>
              <a:buNone/>
              <a:tabLst/>
              <a:defRPr sz="2500" b="0" i="0" u="sng"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a:lstStyle>
          <a:p>
            <a:pPr hangingPunct="1"/>
            <a:r>
              <a:rPr lang="en-US" b="1" dirty="0"/>
              <a:t>7. Toward understanding the return path capacitance in capacitive human body communication</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Title 1"/>
          <p:cNvSpPr txBox="1">
            <a:spLocks noGrp="1"/>
          </p:cNvSpPr>
          <p:nvPr>
            <p:ph type="title"/>
          </p:nvPr>
        </p:nvSpPr>
        <p:spPr>
          <a:xfrm>
            <a:off x="838200" y="148816"/>
            <a:ext cx="10515600" cy="1021222"/>
          </a:xfrm>
          <a:prstGeom prst="rect">
            <a:avLst/>
          </a:prstGeom>
        </p:spPr>
        <p:txBody>
          <a:bodyPr/>
          <a:lstStyle>
            <a:lvl1pPr algn="ctr">
              <a:defRPr sz="2500" u="sng"/>
            </a:lvl1pPr>
          </a:lstStyle>
          <a:p>
            <a:r>
              <a:rPr b="1" dirty="0"/>
              <a:t>8. Simplified human phantoms for intra-ward and intra-vehicle body area network modeling</a:t>
            </a:r>
          </a:p>
        </p:txBody>
      </p:sp>
      <p:sp>
        <p:nvSpPr>
          <p:cNvPr id="145" name="TextBox 3"/>
          <p:cNvSpPr txBox="1"/>
          <p:nvPr/>
        </p:nvSpPr>
        <p:spPr>
          <a:xfrm>
            <a:off x="883919" y="1861797"/>
            <a:ext cx="10424161" cy="29619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r>
              <a:rPr dirty="0"/>
              <a:t>Problem Statement: The computational expense and complexity associated with full-body FEM modeling were addressed in this paper by proposing a more computationally efficient alternative.</a:t>
            </a:r>
          </a:p>
          <a:p>
            <a:endParaRPr dirty="0"/>
          </a:p>
          <a:p>
            <a:r>
              <a:rPr dirty="0"/>
              <a:t>Proposed Method: To model communication within the body, the authors made simplified human phantoms. These phantoms, while anatomically less complex than a full model, accurately replicated the essential electrical properties of the human body.</a:t>
            </a:r>
          </a:p>
          <a:p>
            <a:endParaRPr dirty="0"/>
          </a:p>
          <a:p>
            <a:r>
              <a:rPr dirty="0"/>
              <a:t>Utility: These simplified models are particularly valuable for the rapid design and analysis of Body Area Networks (BANs) in constrained environments, such as a hospital ward or a vehicle, where a full anatomical model is not a prerequisite.</a:t>
            </a:r>
          </a:p>
        </p:txBody>
      </p:sp>
      <p:sp>
        <p:nvSpPr>
          <p:cNvPr id="146" name="TextBox 5"/>
          <p:cNvSpPr txBox="1"/>
          <p:nvPr/>
        </p:nvSpPr>
        <p:spPr>
          <a:xfrm>
            <a:off x="883920" y="5535164"/>
            <a:ext cx="10424160" cy="629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200"/>
            </a:pPr>
            <a:r>
              <a:t>Reference:</a:t>
            </a:r>
          </a:p>
          <a:p>
            <a:pPr>
              <a:defRPr sz="1200"/>
            </a:pPr>
            <a:r>
              <a:t>B. Jacobsen and S. H. Isaacson, “Simplified human phantoms for intra-ward and intra-vehicle body area network modeling,” </a:t>
            </a:r>
            <a:r>
              <a:rPr i="1"/>
              <a:t>Conf. Proc. IEEE Int. Microwave Workshop Series on RF and Wireless Technologies for Biomedical and Healthcare Applications</a:t>
            </a:r>
            <a:r>
              <a:t>, 2013, pp. 1–4.</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9</TotalTime>
  <Words>1250</Words>
  <Application>Microsoft Office PowerPoint</Application>
  <PresentationFormat>Widescreen</PresentationFormat>
  <Paragraphs>60</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  1. A Finite-Element Simulation of Galvanic Coupling Intra-Body Communication Based on the Whole Human Body </vt:lpstr>
      <vt:lpstr> 1. A Finite-Element Simulation of Galvanic Coupling Intra-Body Communication Based on the Whole Human Body </vt:lpstr>
      <vt:lpstr> 1. A Finite-Element Simulation of Galvanic Coupling Intra-Body Communication Based on the Whole Human Body </vt:lpstr>
      <vt:lpstr> 1. A Finite-Element Simulation of Galvanic Coupling Intra-Body Communication Based on the Whole Human Body </vt:lpstr>
      <vt:lpstr> 2. Understanding the Return Path Capacitance in Capacitive Human Body Communication</vt:lpstr>
      <vt:lpstr> 3. Electric field intra-body communication in human body using wearable transceiver</vt:lpstr>
      <vt:lpstr>4. Electric field intrabody communication modeling with finite-element method</vt:lpstr>
      <vt:lpstr>PowerPoint Presentation</vt:lpstr>
      <vt:lpstr>PowerPoint Presentation</vt:lpstr>
      <vt:lpstr>6. Characterization of human body forward path loss and variability effects in voltage-mode HBC</vt:lpstr>
      <vt:lpstr>PowerPoint Presentation</vt:lpstr>
      <vt:lpstr>7. Toward understanding the return path capacitance in capacitive human body communication</vt:lpstr>
      <vt:lpstr>PowerPoint Presentation</vt:lpstr>
      <vt:lpstr>8. Simplified human phantoms for intra-ward and intra-vehicle body area network modeling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Siddhant Deore</cp:lastModifiedBy>
  <cp:revision>48</cp:revision>
  <dcterms:modified xsi:type="dcterms:W3CDTF">2025-08-29T08:29:28Z</dcterms:modified>
</cp:coreProperties>
</file>